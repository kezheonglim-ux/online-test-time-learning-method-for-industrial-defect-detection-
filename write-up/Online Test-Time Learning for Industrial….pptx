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Roboto"/>
      <p:regular r:id="rId201314"/>
      <p:bold r:id="rId301314"/>
    </p:embeddedFont>
    <p:embeddedFont>
      <p:font typeface="Montserrat"/>
      <p:regular r:id="rId201315"/>
      <p:bold r:id="rId301315"/>
    </p:embeddedFont>
    <p:embeddedFont>
      <p:font typeface="Open Sans"/>
      <p:regular r:id="rId201316"/>
      <p:bold r:id="rId301316"/>
    </p:embeddedFont>
    <p:embeddedFont>
      <p:font typeface="Inter"/>
      <p:regular r:id="rId201317"/>
      <p:bold r:id="rId3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Relationship Id="rId301316" Target="fonts/301316.fntdata" Type="http://schemas.openxmlformats.org/officeDocument/2006/relationships/font"/><Relationship Id="rId301317" Target="fonts/3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image" Target="../media/image-5-40.png"/><Relationship Id="rId41" Type="http://schemas.openxmlformats.org/officeDocument/2006/relationships/image" Target="../media/image-5-41.png"/><Relationship Id="rId42" Type="http://schemas.openxmlformats.org/officeDocument/2006/relationships/image" Target="../media/image-5-42.png"/><Relationship Id="rId43" Type="http://schemas.openxmlformats.org/officeDocument/2006/relationships/image" Target="../media/image-5-43.png"/><Relationship Id="rId44" Type="http://schemas.openxmlformats.org/officeDocument/2006/relationships/image" Target="../media/image-5-44.png"/><Relationship Id="rId45" Type="http://schemas.openxmlformats.org/officeDocument/2006/relationships/image" Target="../media/image-5-45.png"/><Relationship Id="rId46" Type="http://schemas.openxmlformats.org/officeDocument/2006/relationships/image" Target="../media/image-5-46.png"/><Relationship Id="rId47" Type="http://schemas.openxmlformats.org/officeDocument/2006/relationships/image" Target="../media/image-5-47.png"/><Relationship Id="rId48" Type="http://schemas.openxmlformats.org/officeDocument/2006/relationships/image" Target="../media/image-5-48.png"/><Relationship Id="rId49" Type="http://schemas.openxmlformats.org/officeDocument/2006/relationships/image" Target="../media/image-5-49.png"/><Relationship Id="rId50" Type="http://schemas.openxmlformats.org/officeDocument/2006/relationships/image" Target="../media/image-5-50.pn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pn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pn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pn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879" y="0"/>
            <a:ext cx="6924973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584" y="4485084"/>
            <a:ext cx="694879" cy="740569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973" y="4526161"/>
            <a:ext cx="682675" cy="706338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59" y="4519315"/>
            <a:ext cx="731490" cy="685800"/>
          </a:xfrm>
          <a:prstGeom prst="rect">
            <a:avLst/>
          </a:prstGeom>
        </p:spPr>
      </p:pic>
      <p:sp>
        <p:nvSpPr>
          <p:cNvPr id="7" name="SK-1-text-6"/>
          <p:cNvSpPr/>
          <p:nvPr/>
        </p:nvSpPr>
        <p:spPr>
          <a:xfrm>
            <a:off x="451098" y="1227534"/>
            <a:ext cx="5140642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72B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 AI PROJECT</a:t>
            </a:r>
            <a:endParaRPr lang="en-US" sz="1575" dirty="0"/>
          </a:p>
        </p:txBody>
      </p:sp>
      <p:sp>
        <p:nvSpPr>
          <p:cNvPr id="8" name="SK-1-text-7"/>
          <p:cNvSpPr/>
          <p:nvPr/>
        </p:nvSpPr>
        <p:spPr>
          <a:xfrm>
            <a:off x="451098" y="1659582"/>
            <a:ext cx="5535067" cy="17898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1A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Test-Time Learning</a:t>
            </a:r>
            <a:endParaRPr lang="en-US" sz="33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1A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Industrial Defect Detection</a:t>
            </a:r>
            <a:endParaRPr lang="en-US" sz="33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1A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a Low-Code Platform.</a:t>
            </a:r>
            <a:endParaRPr lang="en-US" sz="3300" dirty="0"/>
          </a:p>
        </p:txBody>
      </p:sp>
      <p:sp>
        <p:nvSpPr>
          <p:cNvPr id="9" name="SK-1-text-8"/>
          <p:cNvSpPr/>
          <p:nvPr/>
        </p:nvSpPr>
        <p:spPr>
          <a:xfrm>
            <a:off x="463153" y="3668911"/>
            <a:ext cx="442555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Adapting anomaly detectors during inference with</a:t>
            </a:r>
            <a:endParaRPr lang="en-US" sz="15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frozen YOLO26n features and CiRA CORE integration.</a:t>
            </a:r>
            <a:endParaRPr lang="en-US" sz="1500" dirty="0"/>
          </a:p>
        </p:txBody>
      </p:sp>
      <p:sp>
        <p:nvSpPr>
          <p:cNvPr id="10" name="SK-1-text-9"/>
          <p:cNvSpPr/>
          <p:nvPr/>
        </p:nvSpPr>
        <p:spPr>
          <a:xfrm>
            <a:off x="412998" y="5362873"/>
            <a:ext cx="11977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A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Frozen YOLO26n</a:t>
            </a:r>
            <a:endParaRPr lang="en-US" sz="1200" dirty="0"/>
          </a:p>
        </p:txBody>
      </p:sp>
      <p:sp>
        <p:nvSpPr>
          <p:cNvPr id="11" name="SK-1-text-10"/>
          <p:cNvSpPr/>
          <p:nvPr/>
        </p:nvSpPr>
        <p:spPr>
          <a:xfrm>
            <a:off x="1973461" y="5362873"/>
            <a:ext cx="141729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A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Patch Memory</a:t>
            </a:r>
            <a:endParaRPr lang="en-US" sz="1200" dirty="0"/>
          </a:p>
        </p:txBody>
      </p:sp>
      <p:sp>
        <p:nvSpPr>
          <p:cNvPr id="12" name="SK-1-text-11"/>
          <p:cNvSpPr/>
          <p:nvPr/>
        </p:nvSpPr>
        <p:spPr>
          <a:xfrm>
            <a:off x="3680371" y="5362873"/>
            <a:ext cx="13074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A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CiRA CORE + Flask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911"/>
            <a:ext cx="12192000" cy="637788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92" y="1049238"/>
            <a:ext cx="1511796" cy="130225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92" y="1817340"/>
            <a:ext cx="2340769" cy="2359075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263" y="1892796"/>
            <a:ext cx="2340769" cy="229046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3482" y="1858417"/>
            <a:ext cx="2340769" cy="2324844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553" y="1824186"/>
            <a:ext cx="2340769" cy="235907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5577" y="4455021"/>
            <a:ext cx="8412361" cy="19050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052" y="4251871"/>
            <a:ext cx="19050" cy="212527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0271" y="4251871"/>
            <a:ext cx="19050" cy="212527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4342" y="4251871"/>
            <a:ext cx="19050" cy="212527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58561" y="4251871"/>
            <a:ext cx="19050" cy="212527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6761" y="4155877"/>
            <a:ext cx="97482" cy="54769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0980" y="4155877"/>
            <a:ext cx="97482" cy="54769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4155877"/>
            <a:ext cx="97482" cy="54769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9271" y="4155877"/>
            <a:ext cx="97482" cy="54769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192" y="5918448"/>
            <a:ext cx="4413498" cy="589657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3228" y="6069211"/>
            <a:ext cx="19050" cy="30852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2675" y="6007596"/>
            <a:ext cx="451098" cy="41136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24071" y="4533007"/>
            <a:ext cx="914400" cy="1056084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16988" y="4965055"/>
            <a:ext cx="511969" cy="212527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65977" y="4690765"/>
            <a:ext cx="682675" cy="706338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73467" y="4965055"/>
            <a:ext cx="536377" cy="212527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22455" y="4738836"/>
            <a:ext cx="658267" cy="589657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69075" y="4965055"/>
            <a:ext cx="524173" cy="212527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27984" y="4683919"/>
            <a:ext cx="1060698" cy="624036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35475" y="4965055"/>
            <a:ext cx="548580" cy="212527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25961" y="4601617"/>
            <a:ext cx="792361" cy="75426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75098" y="4965055"/>
            <a:ext cx="560784" cy="219373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4400" y="4656534"/>
            <a:ext cx="658267" cy="65142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58486" y="1995636"/>
            <a:ext cx="1292275" cy="1241227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59153" y="2016175"/>
            <a:ext cx="1682353" cy="1193155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18471" y="2043559"/>
            <a:ext cx="1718965" cy="116577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72753" y="1968103"/>
            <a:ext cx="1365498" cy="1200150"/>
          </a:xfrm>
          <a:prstGeom prst="rect">
            <a:avLst/>
          </a:prstGeom>
        </p:spPr>
      </p:pic>
      <p:sp>
        <p:nvSpPr>
          <p:cNvPr id="36" name="SK-2-text-35"/>
          <p:cNvSpPr/>
          <p:nvPr/>
        </p:nvSpPr>
        <p:spPr>
          <a:xfrm>
            <a:off x="548580" y="411361"/>
            <a:ext cx="10505123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75" b="1" dirty="0">
                <a:solidFill>
                  <a:srgbClr val="001A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and Motivation</a:t>
            </a:r>
            <a:endParaRPr lang="en-US" sz="3075" dirty="0"/>
          </a:p>
        </p:txBody>
      </p:sp>
      <p:sp>
        <p:nvSpPr>
          <p:cNvPr id="37" name="SK-2-text-36"/>
          <p:cNvSpPr/>
          <p:nvPr/>
        </p:nvSpPr>
        <p:spPr>
          <a:xfrm>
            <a:off x="560784" y="1330375"/>
            <a:ext cx="11631216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 deployment conditions change after an anomaly detector is released.</a:t>
            </a:r>
            <a:endParaRPr lang="en-US" sz="1350" dirty="0"/>
          </a:p>
        </p:txBody>
      </p:sp>
      <p:sp>
        <p:nvSpPr>
          <p:cNvPr id="38" name="SK-2-text-37"/>
          <p:cNvSpPr/>
          <p:nvPr/>
        </p:nvSpPr>
        <p:spPr>
          <a:xfrm>
            <a:off x="908000" y="3319165"/>
            <a:ext cx="182909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defect labels</a:t>
            </a:r>
            <a:endParaRPr lang="en-US" sz="1350" dirty="0"/>
          </a:p>
        </p:txBody>
      </p:sp>
      <p:sp>
        <p:nvSpPr>
          <p:cNvPr id="39" name="SK-2-text-38"/>
          <p:cNvSpPr/>
          <p:nvPr/>
        </p:nvSpPr>
        <p:spPr>
          <a:xfrm>
            <a:off x="804565" y="3620988"/>
            <a:ext cx="2084784" cy="4045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normal samples;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defects may be unseen.</a:t>
            </a:r>
            <a:endParaRPr lang="en-US" sz="1200" dirty="0"/>
          </a:p>
        </p:txBody>
      </p:sp>
      <p:sp>
        <p:nvSpPr>
          <p:cNvPr id="40" name="SK-2-text-39"/>
          <p:cNvSpPr/>
          <p:nvPr/>
        </p:nvSpPr>
        <p:spPr>
          <a:xfrm>
            <a:off x="3882926" y="3319165"/>
            <a:ext cx="1475482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Distribution shift</a:t>
            </a:r>
            <a:endParaRPr lang="en-US" sz="1350" dirty="0"/>
          </a:p>
        </p:txBody>
      </p:sp>
      <p:sp>
        <p:nvSpPr>
          <p:cNvPr id="41" name="SK-2-text-40"/>
          <p:cNvSpPr/>
          <p:nvPr/>
        </p:nvSpPr>
        <p:spPr>
          <a:xfrm>
            <a:off x="3657600" y="3607296"/>
            <a:ext cx="1987153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Lighting, alignment, surfaces,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batches can change.</a:t>
            </a:r>
            <a:endParaRPr lang="en-US" sz="1200" dirty="0"/>
          </a:p>
        </p:txBody>
      </p:sp>
      <p:sp>
        <p:nvSpPr>
          <p:cNvPr id="42" name="SK-2-text-41"/>
          <p:cNvSpPr/>
          <p:nvPr/>
        </p:nvSpPr>
        <p:spPr>
          <a:xfrm>
            <a:off x="6686996" y="3319165"/>
            <a:ext cx="149989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thresholds</a:t>
            </a:r>
            <a:endParaRPr lang="en-US" sz="1350" dirty="0"/>
          </a:p>
        </p:txBody>
      </p:sp>
      <p:sp>
        <p:nvSpPr>
          <p:cNvPr id="43" name="SK-2-text-42"/>
          <p:cNvSpPr/>
          <p:nvPr/>
        </p:nvSpPr>
        <p:spPr>
          <a:xfrm>
            <a:off x="6388596" y="3614142"/>
            <a:ext cx="2023765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Offline score boundaries can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 false alarms or misses.</a:t>
            </a:r>
            <a:endParaRPr lang="en-US" sz="1200" dirty="0"/>
          </a:p>
        </p:txBody>
      </p:sp>
      <p:sp>
        <p:nvSpPr>
          <p:cNvPr id="44" name="SK-2-text-43"/>
          <p:cNvSpPr/>
          <p:nvPr/>
        </p:nvSpPr>
        <p:spPr>
          <a:xfrm>
            <a:off x="9259491" y="3319165"/>
            <a:ext cx="190232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Unsafe online updates</a:t>
            </a:r>
            <a:endParaRPr lang="en-US" sz="1350" dirty="0"/>
          </a:p>
        </p:txBody>
      </p:sp>
      <p:sp>
        <p:nvSpPr>
          <p:cNvPr id="45" name="SK-2-text-44"/>
          <p:cNvSpPr/>
          <p:nvPr/>
        </p:nvSpPr>
        <p:spPr>
          <a:xfrm>
            <a:off x="9070777" y="3620988"/>
            <a:ext cx="2279898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defect accepted as normal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contaminate future decisions.</a:t>
            </a:r>
            <a:endParaRPr lang="en-US" sz="1200" dirty="0"/>
          </a:p>
        </p:txBody>
      </p:sp>
      <p:sp>
        <p:nvSpPr>
          <p:cNvPr id="46" name="SK-2-text-45"/>
          <p:cNvSpPr/>
          <p:nvPr/>
        </p:nvSpPr>
        <p:spPr>
          <a:xfrm>
            <a:off x="717798" y="5431482"/>
            <a:ext cx="1063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model</a:t>
            </a:r>
            <a:endParaRPr lang="en-US" sz="1200" dirty="0"/>
          </a:p>
        </p:txBody>
      </p:sp>
      <p:sp>
        <p:nvSpPr>
          <p:cNvPr id="47" name="SK-2-text-46"/>
          <p:cNvSpPr/>
          <p:nvPr/>
        </p:nvSpPr>
        <p:spPr>
          <a:xfrm>
            <a:off x="2668488" y="5431482"/>
            <a:ext cx="13318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 shift</a:t>
            </a:r>
            <a:endParaRPr lang="en-US" sz="1200" dirty="0"/>
          </a:p>
        </p:txBody>
      </p:sp>
      <p:sp>
        <p:nvSpPr>
          <p:cNvPr id="48" name="SK-2-text-47"/>
          <p:cNvSpPr/>
          <p:nvPr/>
        </p:nvSpPr>
        <p:spPr>
          <a:xfrm>
            <a:off x="4742557" y="5431482"/>
            <a:ext cx="1206996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Unstable score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boundary</a:t>
            </a:r>
            <a:endParaRPr lang="en-US" sz="1350" dirty="0"/>
          </a:p>
        </p:txBody>
      </p:sp>
      <p:sp>
        <p:nvSpPr>
          <p:cNvPr id="49" name="SK-2-text-48"/>
          <p:cNvSpPr/>
          <p:nvPr/>
        </p:nvSpPr>
        <p:spPr>
          <a:xfrm>
            <a:off x="6778675" y="5431482"/>
            <a:ext cx="1121569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False alarm or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missed defect</a:t>
            </a:r>
            <a:endParaRPr lang="en-US" sz="1350" dirty="0"/>
          </a:p>
        </p:txBody>
      </p:sp>
      <p:sp>
        <p:nvSpPr>
          <p:cNvPr id="50" name="SK-2-text-49"/>
          <p:cNvSpPr/>
          <p:nvPr/>
        </p:nvSpPr>
        <p:spPr>
          <a:xfrm>
            <a:off x="8692753" y="5431482"/>
            <a:ext cx="889992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 online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1A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adaptation</a:t>
            </a:r>
            <a:endParaRPr lang="en-US" sz="1350" dirty="0"/>
          </a:p>
        </p:txBody>
      </p:sp>
      <p:sp>
        <p:nvSpPr>
          <p:cNvPr id="51" name="SK-2-text-50"/>
          <p:cNvSpPr/>
          <p:nvPr/>
        </p:nvSpPr>
        <p:spPr>
          <a:xfrm>
            <a:off x="10265569" y="5664696"/>
            <a:ext cx="1194792" cy="473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44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Trusted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44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updates only</a:t>
            </a:r>
            <a:endParaRPr lang="en-US" sz="1500" dirty="0"/>
          </a:p>
        </p:txBody>
      </p:sp>
      <p:sp>
        <p:nvSpPr>
          <p:cNvPr id="52" name="SK-2-text-51"/>
          <p:cNvSpPr/>
          <p:nvPr/>
        </p:nvSpPr>
        <p:spPr>
          <a:xfrm>
            <a:off x="1353294" y="6028134"/>
            <a:ext cx="351115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 gap: adaptation must work without labels,</a:t>
            </a:r>
            <a:endParaRPr lang="en-US" sz="1050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full-model retraining, or unsafe memory updates.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" y="726877"/>
            <a:ext cx="548580" cy="82153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890" y="0"/>
            <a:ext cx="2925961" cy="2228850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49180"/>
            <a:ext cx="2255490" cy="1508671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7380" y="5794921"/>
            <a:ext cx="2194471" cy="1062930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2" y="1316682"/>
            <a:ext cx="11387286" cy="5006280"/>
          </a:xfrm>
          <a:prstGeom prst="rect">
            <a:avLst/>
          </a:prstGeom>
        </p:spPr>
      </p:pic>
      <p:sp>
        <p:nvSpPr>
          <p:cNvPr id="8" name="SK-3-text-7"/>
          <p:cNvSpPr/>
          <p:nvPr/>
        </p:nvSpPr>
        <p:spPr>
          <a:xfrm>
            <a:off x="329059" y="178296"/>
            <a:ext cx="10267950" cy="473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Project Flow</a:t>
            </a:r>
            <a:endParaRPr lang="en-US" sz="3300" dirty="0"/>
          </a:p>
        </p:txBody>
      </p:sp>
      <p:sp>
        <p:nvSpPr>
          <p:cNvPr id="9" name="SK-3-text-8"/>
          <p:cNvSpPr/>
          <p:nvPr/>
        </p:nvSpPr>
        <p:spPr>
          <a:xfrm>
            <a:off x="341263" y="932557"/>
            <a:ext cx="11850737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normal-image reference memory to low-code inspection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4" y="843409"/>
            <a:ext cx="853380" cy="95994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561" y="0"/>
            <a:ext cx="2560290" cy="1508671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5364361" cy="1714500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875" y="1515517"/>
            <a:ext cx="1962894" cy="720030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414" y="1680066"/>
            <a:ext cx="392043" cy="377261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6433" y="1684377"/>
            <a:ext cx="58412" cy="58412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290" y="5390257"/>
            <a:ext cx="4766965" cy="1193155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8932" y="5479405"/>
            <a:ext cx="9525" cy="953244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7475" y="5776466"/>
            <a:ext cx="3048000" cy="9525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18863" y="5760690"/>
            <a:ext cx="73075" cy="41077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9459" y="5479405"/>
            <a:ext cx="865584" cy="912019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5984" y="2304157"/>
            <a:ext cx="11460361" cy="2907655"/>
          </a:xfrm>
          <a:prstGeom prst="rect">
            <a:avLst/>
          </a:prstGeom>
        </p:spPr>
      </p:pic>
      <p:sp>
        <p:nvSpPr>
          <p:cNvPr id="15" name="SK-4-text-14"/>
          <p:cNvSpPr/>
          <p:nvPr/>
        </p:nvSpPr>
        <p:spPr>
          <a:xfrm>
            <a:off x="219373" y="246757"/>
            <a:ext cx="10281285" cy="4868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01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Evolution</a:t>
            </a:r>
            <a:endParaRPr lang="en-US" sz="3150" dirty="0"/>
          </a:p>
        </p:txBody>
      </p:sp>
      <p:sp>
        <p:nvSpPr>
          <p:cNvPr id="16" name="SK-4-text-15"/>
          <p:cNvSpPr/>
          <p:nvPr/>
        </p:nvSpPr>
        <p:spPr>
          <a:xfrm>
            <a:off x="243780" y="1021705"/>
            <a:ext cx="11597640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revision addressed evidence from the preceding experiment.</a:t>
            </a:r>
            <a:endParaRPr lang="en-US" sz="1200" dirty="0"/>
          </a:p>
        </p:txBody>
      </p:sp>
      <p:sp>
        <p:nvSpPr>
          <p:cNvPr id="17" name="SK-4-text-16"/>
          <p:cNvSpPr/>
          <p:nvPr/>
        </p:nvSpPr>
        <p:spPr>
          <a:xfrm>
            <a:off x="243780" y="1604665"/>
            <a:ext cx="78105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7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EXPERIMENTATION ACROSS 15 CATEGORIES</a:t>
            </a:r>
            <a:endParaRPr lang="en-US" sz="1050" dirty="0"/>
          </a:p>
        </p:txBody>
      </p:sp>
      <p:sp>
        <p:nvSpPr>
          <p:cNvPr id="18" name="SK-4-text-17"/>
          <p:cNvSpPr/>
          <p:nvPr/>
        </p:nvSpPr>
        <p:spPr>
          <a:xfrm>
            <a:off x="8558659" y="5479405"/>
            <a:ext cx="363334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practical winner</a:t>
            </a:r>
            <a:endParaRPr lang="en-US" sz="1425" dirty="0"/>
          </a:p>
        </p:txBody>
      </p:sp>
      <p:sp>
        <p:nvSpPr>
          <p:cNvPr id="19" name="SK-4-text-18"/>
          <p:cNvSpPr/>
          <p:nvPr/>
        </p:nvSpPr>
        <p:spPr>
          <a:xfrm>
            <a:off x="8558659" y="5870377"/>
            <a:ext cx="3633341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CTTA</a:t>
            </a:r>
            <a:endParaRPr lang="en-US" sz="2775" dirty="0"/>
          </a:p>
        </p:txBody>
      </p:sp>
      <p:sp>
        <p:nvSpPr>
          <p:cNvPr id="20" name="SK-4-text-19"/>
          <p:cNvSpPr/>
          <p:nvPr/>
        </p:nvSpPr>
        <p:spPr>
          <a:xfrm>
            <a:off x="8570863" y="6309271"/>
            <a:ext cx="3621137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balance of accuracy, Macro F1, and online safety.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98" y="877788"/>
            <a:ext cx="914400" cy="68461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80" y="1453753"/>
            <a:ext cx="2011561" cy="3737521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271" y="1453753"/>
            <a:ext cx="2438400" cy="3620988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1453753"/>
            <a:ext cx="2316361" cy="3620988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1890" y="1453753"/>
            <a:ext cx="1889671" cy="3723829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7380" y="864096"/>
            <a:ext cx="2011561" cy="4725144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6588" y="3764905"/>
            <a:ext cx="2023765" cy="486817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8769" y="3977580"/>
            <a:ext cx="1901875" cy="452586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6588" y="4553694"/>
            <a:ext cx="2023765" cy="507355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8769" y="4560540"/>
            <a:ext cx="1901875" cy="514350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9059" y="4676477"/>
            <a:ext cx="1499592" cy="467618"/>
          </a:xfrm>
          <a:prstGeom prst="rect">
            <a:avLst/>
          </a:prstGeom>
        </p:spPr>
      </p:pic>
      <p:pic>
        <p:nvPicPr>
          <p:cNvPr id="14" name="SK-5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8086" y="3497461"/>
            <a:ext cx="1633686" cy="987475"/>
          </a:xfrm>
          <a:prstGeom prst="rect">
            <a:avLst/>
          </a:prstGeom>
        </p:spPr>
      </p:pic>
      <p:pic>
        <p:nvPicPr>
          <p:cNvPr id="15" name="SK-5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19271" y="1275457"/>
            <a:ext cx="1767780" cy="610344"/>
          </a:xfrm>
          <a:prstGeom prst="rect">
            <a:avLst/>
          </a:prstGeom>
        </p:spPr>
      </p:pic>
      <p:pic>
        <p:nvPicPr>
          <p:cNvPr id="16" name="SK-5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9271" y="2269927"/>
            <a:ext cx="1767780" cy="630882"/>
          </a:xfrm>
          <a:prstGeom prst="rect">
            <a:avLst/>
          </a:prstGeom>
        </p:spPr>
      </p:pic>
      <p:pic>
        <p:nvPicPr>
          <p:cNvPr id="17" name="SK-5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50761" y="1988790"/>
            <a:ext cx="304800" cy="171450"/>
          </a:xfrm>
          <a:prstGeom prst="rect">
            <a:avLst/>
          </a:prstGeom>
        </p:spPr>
      </p:pic>
      <p:pic>
        <p:nvPicPr>
          <p:cNvPr id="18" name="SK-5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50761" y="2983111"/>
            <a:ext cx="304800" cy="171450"/>
          </a:xfrm>
          <a:prstGeom prst="rect">
            <a:avLst/>
          </a:prstGeom>
        </p:spPr>
      </p:pic>
      <p:pic>
        <p:nvPicPr>
          <p:cNvPr id="19" name="SK-5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180" y="5280571"/>
            <a:ext cx="8717161" cy="274290"/>
          </a:xfrm>
          <a:prstGeom prst="rect">
            <a:avLst/>
          </a:prstGeom>
        </p:spPr>
      </p:pic>
      <p:pic>
        <p:nvPicPr>
          <p:cNvPr id="20" name="SK-5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3780" y="5883473"/>
            <a:ext cx="11704290" cy="604838"/>
          </a:xfrm>
          <a:prstGeom prst="rect">
            <a:avLst/>
          </a:prstGeom>
        </p:spPr>
      </p:pic>
      <p:pic>
        <p:nvPicPr>
          <p:cNvPr id="21" name="SK-5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6690" y="6000750"/>
            <a:ext cx="365671" cy="274290"/>
          </a:xfrm>
          <a:prstGeom prst="rect">
            <a:avLst/>
          </a:prstGeom>
        </p:spPr>
      </p:pic>
      <p:pic>
        <p:nvPicPr>
          <p:cNvPr id="22" name="SK-5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33600" y="6000750"/>
            <a:ext cx="426690" cy="308521"/>
          </a:xfrm>
          <a:prstGeom prst="rect">
            <a:avLst/>
          </a:prstGeom>
        </p:spPr>
      </p:pic>
      <p:pic>
        <p:nvPicPr>
          <p:cNvPr id="23" name="SK-5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45161" y="6000750"/>
            <a:ext cx="548580" cy="342900"/>
          </a:xfrm>
          <a:prstGeom prst="rect">
            <a:avLst/>
          </a:prstGeom>
        </p:spPr>
      </p:pic>
      <p:pic>
        <p:nvPicPr>
          <p:cNvPr id="24" name="SK-5-img-2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82659" y="5959525"/>
            <a:ext cx="365671" cy="432048"/>
          </a:xfrm>
          <a:prstGeom prst="rect">
            <a:avLst/>
          </a:prstGeom>
        </p:spPr>
      </p:pic>
      <p:pic>
        <p:nvPicPr>
          <p:cNvPr id="25" name="SK-5-img-24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46690" y="5959525"/>
            <a:ext cx="438894" cy="432048"/>
          </a:xfrm>
          <a:prstGeom prst="rect">
            <a:avLst/>
          </a:prstGeom>
        </p:spPr>
      </p:pic>
      <p:pic>
        <p:nvPicPr>
          <p:cNvPr id="26" name="SK-5-img-25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86165" y="5959525"/>
            <a:ext cx="438894" cy="432048"/>
          </a:xfrm>
          <a:prstGeom prst="rect">
            <a:avLst/>
          </a:prstGeom>
        </p:spPr>
      </p:pic>
      <p:pic>
        <p:nvPicPr>
          <p:cNvPr id="27" name="SK-5-img-26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81773" y="5959525"/>
            <a:ext cx="329059" cy="432048"/>
          </a:xfrm>
          <a:prstGeom prst="rect">
            <a:avLst/>
          </a:prstGeom>
        </p:spPr>
      </p:pic>
      <p:pic>
        <p:nvPicPr>
          <p:cNvPr id="28" name="SK-5-img-27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82267" y="5959525"/>
            <a:ext cx="341263" cy="418207"/>
          </a:xfrm>
          <a:prstGeom prst="rect">
            <a:avLst/>
          </a:prstGeom>
        </p:spPr>
      </p:pic>
      <p:pic>
        <p:nvPicPr>
          <p:cNvPr id="29" name="SK-5-img-28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671" y="5959525"/>
            <a:ext cx="377875" cy="425053"/>
          </a:xfrm>
          <a:prstGeom prst="rect">
            <a:avLst/>
          </a:prstGeom>
        </p:spPr>
      </p:pic>
      <p:pic>
        <p:nvPicPr>
          <p:cNvPr id="30" name="SK-5-img-29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131153" y="4875907"/>
            <a:ext cx="255984" cy="226219"/>
          </a:xfrm>
          <a:prstGeom prst="rect">
            <a:avLst/>
          </a:prstGeom>
        </p:spPr>
      </p:pic>
      <p:pic>
        <p:nvPicPr>
          <p:cNvPr id="31" name="SK-5-img-30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43679" y="4875907"/>
            <a:ext cx="255984" cy="226219"/>
          </a:xfrm>
          <a:prstGeom prst="rect">
            <a:avLst/>
          </a:prstGeom>
        </p:spPr>
      </p:pic>
      <p:pic>
        <p:nvPicPr>
          <p:cNvPr id="32" name="SK-5-img-31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11867" y="3806130"/>
            <a:ext cx="316855" cy="342900"/>
          </a:xfrm>
          <a:prstGeom prst="rect">
            <a:avLst/>
          </a:prstGeom>
        </p:spPr>
      </p:pic>
      <p:pic>
        <p:nvPicPr>
          <p:cNvPr id="33" name="SK-5-img-32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53365" y="2365921"/>
            <a:ext cx="365671" cy="397669"/>
          </a:xfrm>
          <a:prstGeom prst="rect">
            <a:avLst/>
          </a:prstGeom>
        </p:spPr>
      </p:pic>
      <p:pic>
        <p:nvPicPr>
          <p:cNvPr id="34" name="SK-5-img-33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50761" y="1927027"/>
            <a:ext cx="268188" cy="185142"/>
          </a:xfrm>
          <a:prstGeom prst="rect">
            <a:avLst/>
          </a:prstGeom>
        </p:spPr>
      </p:pic>
      <p:pic>
        <p:nvPicPr>
          <p:cNvPr id="35" name="SK-5-img-34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704463" y="1556742"/>
            <a:ext cx="828973" cy="226219"/>
          </a:xfrm>
          <a:prstGeom prst="rect">
            <a:avLst/>
          </a:prstGeom>
        </p:spPr>
      </p:pic>
      <p:pic>
        <p:nvPicPr>
          <p:cNvPr id="36" name="SK-5-img-35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41161" y="1378446"/>
            <a:ext cx="402282" cy="329059"/>
          </a:xfrm>
          <a:prstGeom prst="rect">
            <a:avLst/>
          </a:prstGeom>
        </p:spPr>
      </p:pic>
      <p:pic>
        <p:nvPicPr>
          <p:cNvPr id="37" name="SK-5-img-36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900392" y="4752529"/>
            <a:ext cx="268188" cy="281136"/>
          </a:xfrm>
          <a:prstGeom prst="rect">
            <a:avLst/>
          </a:prstGeom>
        </p:spPr>
      </p:pic>
      <p:pic>
        <p:nvPicPr>
          <p:cNvPr id="38" name="SK-5-img-37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07796" y="2544217"/>
            <a:ext cx="2084784" cy="1584127"/>
          </a:xfrm>
          <a:prstGeom prst="rect">
            <a:avLst/>
          </a:prstGeom>
        </p:spPr>
      </p:pic>
      <p:pic>
        <p:nvPicPr>
          <p:cNvPr id="39" name="SK-5-img-38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607796" y="3168253"/>
            <a:ext cx="48667" cy="150763"/>
          </a:xfrm>
          <a:prstGeom prst="rect">
            <a:avLst/>
          </a:prstGeom>
        </p:spPr>
      </p:pic>
      <p:pic>
        <p:nvPicPr>
          <p:cNvPr id="40" name="SK-5-img-39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705279" y="1563588"/>
            <a:ext cx="268188" cy="274290"/>
          </a:xfrm>
          <a:prstGeom prst="rect">
            <a:avLst/>
          </a:prstGeom>
        </p:spPr>
      </p:pic>
      <p:pic>
        <p:nvPicPr>
          <p:cNvPr id="41" name="SK-5-img-40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498455" y="4670227"/>
            <a:ext cx="243780" cy="233065"/>
          </a:xfrm>
          <a:prstGeom prst="rect">
            <a:avLst/>
          </a:prstGeom>
        </p:spPr>
      </p:pic>
      <p:pic>
        <p:nvPicPr>
          <p:cNvPr id="42" name="SK-5-img-41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291286" y="2091630"/>
            <a:ext cx="2023765" cy="1467594"/>
          </a:xfrm>
          <a:prstGeom prst="rect">
            <a:avLst/>
          </a:prstGeom>
        </p:spPr>
      </p:pic>
      <p:pic>
        <p:nvPicPr>
          <p:cNvPr id="43" name="SK-5-img-42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498455" y="1563588"/>
            <a:ext cx="268188" cy="274290"/>
          </a:xfrm>
          <a:prstGeom prst="rect">
            <a:avLst/>
          </a:prstGeom>
        </p:spPr>
      </p:pic>
      <p:pic>
        <p:nvPicPr>
          <p:cNvPr id="44" name="SK-5-img-43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986980" y="4649688"/>
            <a:ext cx="292596" cy="274290"/>
          </a:xfrm>
          <a:prstGeom prst="rect">
            <a:avLst/>
          </a:prstGeom>
        </p:spPr>
      </p:pic>
      <p:pic>
        <p:nvPicPr>
          <p:cNvPr id="45" name="SK-5-img-44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669655" y="2167086"/>
            <a:ext cx="1219200" cy="850255"/>
          </a:xfrm>
          <a:prstGeom prst="rect">
            <a:avLst/>
          </a:prstGeom>
        </p:spPr>
      </p:pic>
      <p:pic>
        <p:nvPicPr>
          <p:cNvPr id="46" name="SK-5-img-45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67459" y="2393305"/>
            <a:ext cx="804565" cy="260598"/>
          </a:xfrm>
          <a:prstGeom prst="rect">
            <a:avLst/>
          </a:prstGeom>
        </p:spPr>
      </p:pic>
      <p:pic>
        <p:nvPicPr>
          <p:cNvPr id="47" name="SK-5-img-46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852886" y="1563588"/>
            <a:ext cx="255984" cy="274290"/>
          </a:xfrm>
          <a:prstGeom prst="rect">
            <a:avLst/>
          </a:prstGeom>
        </p:spPr>
      </p:pic>
      <p:pic>
        <p:nvPicPr>
          <p:cNvPr id="48" name="SK-5-img-47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90079" y="4039344"/>
            <a:ext cx="1767780" cy="774948"/>
          </a:xfrm>
          <a:prstGeom prst="rect">
            <a:avLst/>
          </a:prstGeom>
        </p:spPr>
      </p:pic>
      <p:pic>
        <p:nvPicPr>
          <p:cNvPr id="49" name="SK-5-img-48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99765" y="2818507"/>
            <a:ext cx="1718965" cy="864096"/>
          </a:xfrm>
          <a:prstGeom prst="rect">
            <a:avLst/>
          </a:prstGeom>
        </p:spPr>
      </p:pic>
      <p:pic>
        <p:nvPicPr>
          <p:cNvPr id="50" name="SK-5-img-49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97396" y="1913334"/>
            <a:ext cx="1377553" cy="706338"/>
          </a:xfrm>
          <a:prstGeom prst="rect">
            <a:avLst/>
          </a:prstGeom>
        </p:spPr>
      </p:pic>
      <p:pic>
        <p:nvPicPr>
          <p:cNvPr id="51" name="SK-5-img-50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14486" y="1570434"/>
            <a:ext cx="255984" cy="253603"/>
          </a:xfrm>
          <a:prstGeom prst="rect">
            <a:avLst/>
          </a:prstGeom>
        </p:spPr>
      </p:pic>
      <p:sp>
        <p:nvSpPr>
          <p:cNvPr id="52" name="SK-5-text-51"/>
          <p:cNvSpPr/>
          <p:nvPr/>
        </p:nvSpPr>
        <p:spPr>
          <a:xfrm>
            <a:off x="463153" y="377130"/>
            <a:ext cx="1060513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Method and Formulae</a:t>
            </a:r>
            <a:endParaRPr lang="en-US" sz="2850" dirty="0"/>
          </a:p>
        </p:txBody>
      </p:sp>
      <p:sp>
        <p:nvSpPr>
          <p:cNvPr id="53" name="SK-5-text-52"/>
          <p:cNvSpPr/>
          <p:nvPr/>
        </p:nvSpPr>
        <p:spPr>
          <a:xfrm>
            <a:off x="463153" y="1083469"/>
            <a:ext cx="101346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Patch-level anomaly scoring and safe online adaptation.</a:t>
            </a:r>
            <a:endParaRPr lang="en-US" sz="1200" dirty="0"/>
          </a:p>
        </p:txBody>
      </p:sp>
      <p:sp>
        <p:nvSpPr>
          <p:cNvPr id="54" name="SK-5-text-53"/>
          <p:cNvSpPr/>
          <p:nvPr/>
        </p:nvSpPr>
        <p:spPr>
          <a:xfrm>
            <a:off x="731490" y="1625203"/>
            <a:ext cx="37338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patch features</a:t>
            </a:r>
            <a:endParaRPr lang="en-US" sz="1200" dirty="0"/>
          </a:p>
        </p:txBody>
      </p:sp>
      <p:sp>
        <p:nvSpPr>
          <p:cNvPr id="55" name="SK-5-text-54"/>
          <p:cNvSpPr/>
          <p:nvPr/>
        </p:nvSpPr>
        <p:spPr>
          <a:xfrm>
            <a:off x="719286" y="3737521"/>
            <a:ext cx="252984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Frozen YOLO26n</a:t>
            </a:r>
            <a:endParaRPr lang="en-US" sz="1050" dirty="0"/>
          </a:p>
        </p:txBody>
      </p:sp>
      <p:sp>
        <p:nvSpPr>
          <p:cNvPr id="56" name="SK-5-text-55"/>
          <p:cNvSpPr/>
          <p:nvPr/>
        </p:nvSpPr>
        <p:spPr>
          <a:xfrm>
            <a:off x="755898" y="4903440"/>
            <a:ext cx="31165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196 local patches</a:t>
            </a:r>
            <a:endParaRPr lang="en-US" sz="1050" dirty="0"/>
          </a:p>
        </p:txBody>
      </p:sp>
      <p:sp>
        <p:nvSpPr>
          <p:cNvPr id="57" name="SK-5-text-56"/>
          <p:cNvSpPr/>
          <p:nvPr/>
        </p:nvSpPr>
        <p:spPr>
          <a:xfrm>
            <a:off x="3169890" y="1632198"/>
            <a:ext cx="4282440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Nearest-normal distance</a:t>
            </a:r>
            <a:endParaRPr lang="en-US" sz="1200" dirty="0"/>
          </a:p>
        </p:txBody>
      </p:sp>
      <p:sp>
        <p:nvSpPr>
          <p:cNvPr id="58" name="SK-5-text-57"/>
          <p:cNvSpPr/>
          <p:nvPr/>
        </p:nvSpPr>
        <p:spPr>
          <a:xfrm>
            <a:off x="2718792" y="2715667"/>
            <a:ext cx="390079" cy="3016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Patch</a:t>
            </a:r>
            <a:endParaRPr lang="en-US" sz="105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vector</a:t>
            </a:r>
            <a:endParaRPr lang="en-US" sz="1050" dirty="0"/>
          </a:p>
        </p:txBody>
      </p:sp>
      <p:sp>
        <p:nvSpPr>
          <p:cNvPr id="59" name="SK-5-text-58"/>
          <p:cNvSpPr/>
          <p:nvPr/>
        </p:nvSpPr>
        <p:spPr>
          <a:xfrm>
            <a:off x="3657600" y="3120330"/>
            <a:ext cx="1231255" cy="3222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memory bank</a:t>
            </a:r>
            <a:endParaRPr lang="en-US" sz="105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(patch vectors)</a:t>
            </a:r>
            <a:endParaRPr lang="en-US" sz="1050" dirty="0"/>
          </a:p>
        </p:txBody>
      </p:sp>
      <p:sp>
        <p:nvSpPr>
          <p:cNvPr id="60" name="SK-5-text-59"/>
          <p:cNvSpPr/>
          <p:nvPr/>
        </p:nvSpPr>
        <p:spPr>
          <a:xfrm>
            <a:off x="2865090" y="3915817"/>
            <a:ext cx="586740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d_i = 1 - max cosine similarity</a:t>
            </a:r>
            <a:endParaRPr lang="en-US" sz="1200" dirty="0"/>
          </a:p>
        </p:txBody>
      </p:sp>
      <p:sp>
        <p:nvSpPr>
          <p:cNvPr id="61" name="SK-5-text-60"/>
          <p:cNvSpPr/>
          <p:nvPr/>
        </p:nvSpPr>
        <p:spPr>
          <a:xfrm>
            <a:off x="3340596" y="4649688"/>
            <a:ext cx="1048494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distance =</a:t>
            </a:r>
            <a:endParaRPr lang="en-US" sz="105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unusual local region</a:t>
            </a:r>
            <a:endParaRPr lang="en-US" sz="1050" dirty="0"/>
          </a:p>
        </p:txBody>
      </p:sp>
      <p:sp>
        <p:nvSpPr>
          <p:cNvPr id="62" name="SK-5-text-61"/>
          <p:cNvSpPr/>
          <p:nvPr/>
        </p:nvSpPr>
        <p:spPr>
          <a:xfrm>
            <a:off x="5815459" y="1625203"/>
            <a:ext cx="318516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Top-K image score</a:t>
            </a:r>
            <a:endParaRPr lang="en-US" sz="1200" dirty="0"/>
          </a:p>
        </p:txBody>
      </p:sp>
      <p:sp>
        <p:nvSpPr>
          <p:cNvPr id="63" name="SK-5-text-62"/>
          <p:cNvSpPr/>
          <p:nvPr/>
        </p:nvSpPr>
        <p:spPr>
          <a:xfrm>
            <a:off x="5461992" y="3655219"/>
            <a:ext cx="4876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5% = 10 of 196 patches</a:t>
            </a:r>
            <a:endParaRPr lang="en-US" sz="1050" dirty="0"/>
          </a:p>
        </p:txBody>
      </p:sp>
      <p:sp>
        <p:nvSpPr>
          <p:cNvPr id="64" name="SK-5-text-63"/>
          <p:cNvSpPr/>
          <p:nvPr/>
        </p:nvSpPr>
        <p:spPr>
          <a:xfrm>
            <a:off x="5352157" y="4114800"/>
            <a:ext cx="535686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S(x) = average of Top-K distances</a:t>
            </a:r>
            <a:endParaRPr lang="en-US" sz="1050" dirty="0"/>
          </a:p>
        </p:txBody>
      </p:sp>
      <p:sp>
        <p:nvSpPr>
          <p:cNvPr id="65" name="SK-5-text-64"/>
          <p:cNvSpPr/>
          <p:nvPr/>
        </p:nvSpPr>
        <p:spPr>
          <a:xfrm>
            <a:off x="5778996" y="4670227"/>
            <a:ext cx="1401961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Top-K highest distances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 image abnormality</a:t>
            </a:r>
            <a:endParaRPr lang="en-US" sz="900" dirty="0"/>
          </a:p>
        </p:txBody>
      </p:sp>
      <p:sp>
        <p:nvSpPr>
          <p:cNvPr id="66" name="SK-5-text-65"/>
          <p:cNvSpPr/>
          <p:nvPr/>
        </p:nvSpPr>
        <p:spPr>
          <a:xfrm>
            <a:off x="8010079" y="1632198"/>
            <a:ext cx="4181921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Trusted-normal calibration</a:t>
            </a:r>
            <a:endParaRPr lang="en-US" sz="1200" dirty="0"/>
          </a:p>
        </p:txBody>
      </p:sp>
      <p:sp>
        <p:nvSpPr>
          <p:cNvPr id="67" name="SK-5-text-66"/>
          <p:cNvSpPr/>
          <p:nvPr/>
        </p:nvSpPr>
        <p:spPr>
          <a:xfrm>
            <a:off x="8192988" y="2043559"/>
            <a:ext cx="975271" cy="3222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distribution</a:t>
            </a:r>
            <a:endParaRPr lang="en-US" sz="105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(normal images)</a:t>
            </a:r>
            <a:endParaRPr lang="en-US" sz="1050" dirty="0"/>
          </a:p>
        </p:txBody>
      </p:sp>
      <p:sp>
        <p:nvSpPr>
          <p:cNvPr id="68" name="SK-5-text-67"/>
          <p:cNvSpPr/>
          <p:nvPr/>
        </p:nvSpPr>
        <p:spPr>
          <a:xfrm>
            <a:off x="8058894" y="4245025"/>
            <a:ext cx="2956560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Anomaly score S(x)</a:t>
            </a:r>
            <a:endParaRPr lang="en-US" sz="1050" dirty="0"/>
          </a:p>
        </p:txBody>
      </p:sp>
      <p:sp>
        <p:nvSpPr>
          <p:cNvPr id="69" name="SK-5-text-68"/>
          <p:cNvSpPr/>
          <p:nvPr/>
        </p:nvSpPr>
        <p:spPr>
          <a:xfrm>
            <a:off x="8241655" y="4752529"/>
            <a:ext cx="1060698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trusted-normal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per category</a:t>
            </a:r>
            <a:endParaRPr lang="en-US" sz="900" dirty="0"/>
          </a:p>
        </p:txBody>
      </p:sp>
      <p:sp>
        <p:nvSpPr>
          <p:cNvPr id="70" name="SK-5-text-69"/>
          <p:cNvSpPr/>
          <p:nvPr/>
        </p:nvSpPr>
        <p:spPr>
          <a:xfrm>
            <a:off x="10302180" y="987475"/>
            <a:ext cx="188982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Trusted update gate</a:t>
            </a:r>
            <a:endParaRPr lang="en-US" sz="1200" dirty="0"/>
          </a:p>
        </p:txBody>
      </p:sp>
      <p:sp>
        <p:nvSpPr>
          <p:cNvPr id="71" name="SK-5-text-70"/>
          <p:cNvSpPr/>
          <p:nvPr/>
        </p:nvSpPr>
        <p:spPr>
          <a:xfrm>
            <a:off x="10704463" y="1398984"/>
            <a:ext cx="148753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gate:</a:t>
            </a:r>
            <a:endParaRPr lang="en-US" sz="1050" dirty="0"/>
          </a:p>
        </p:txBody>
      </p:sp>
      <p:sp>
        <p:nvSpPr>
          <p:cNvPr id="72" name="SK-5-text-71"/>
          <p:cNvSpPr/>
          <p:nvPr/>
        </p:nvSpPr>
        <p:spPr>
          <a:xfrm>
            <a:off x="10692259" y="2352229"/>
            <a:ext cx="999679" cy="4662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Consistency gate:</a:t>
            </a:r>
            <a:endParaRPr lang="en-US" sz="11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and strong</a:t>
            </a:r>
            <a:endParaRPr lang="en-US" sz="11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views agree</a:t>
            </a:r>
            <a:endParaRPr lang="en-US" sz="1125" dirty="0"/>
          </a:p>
        </p:txBody>
      </p:sp>
      <p:sp>
        <p:nvSpPr>
          <p:cNvPr id="73" name="SK-5-text-72"/>
          <p:cNvSpPr/>
          <p:nvPr/>
        </p:nvSpPr>
        <p:spPr>
          <a:xfrm>
            <a:off x="10826353" y="3065413"/>
            <a:ext cx="487680" cy="1233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endParaRPr lang="en-US" sz="900" dirty="0"/>
          </a:p>
        </p:txBody>
      </p:sp>
      <p:sp>
        <p:nvSpPr>
          <p:cNvPr id="74" name="SK-5-text-73"/>
          <p:cNvSpPr/>
          <p:nvPr/>
        </p:nvSpPr>
        <p:spPr>
          <a:xfrm>
            <a:off x="10789890" y="3806130"/>
            <a:ext cx="56078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to</a:t>
            </a:r>
            <a:endParaRPr lang="en-US" sz="1125" dirty="0"/>
          </a:p>
          <a:p>
            <a:pPr algn="ctr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update?</a:t>
            </a:r>
            <a:endParaRPr lang="en-US" sz="1125" dirty="0"/>
          </a:p>
        </p:txBody>
      </p:sp>
      <p:sp>
        <p:nvSpPr>
          <p:cNvPr id="75" name="SK-5-text-74"/>
          <p:cNvSpPr/>
          <p:nvPr/>
        </p:nvSpPr>
        <p:spPr>
          <a:xfrm>
            <a:off x="10424071" y="4923979"/>
            <a:ext cx="71628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Yes:</a:t>
            </a:r>
            <a:endParaRPr lang="en-US" sz="1050" dirty="0"/>
          </a:p>
        </p:txBody>
      </p:sp>
      <p:sp>
        <p:nvSpPr>
          <p:cNvPr id="76" name="SK-5-text-75"/>
          <p:cNvSpPr/>
          <p:nvPr/>
        </p:nvSpPr>
        <p:spPr>
          <a:xfrm>
            <a:off x="10155882" y="5150346"/>
            <a:ext cx="185928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0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 memory</a:t>
            </a:r>
            <a:endParaRPr lang="en-US" sz="900" dirty="0"/>
          </a:p>
        </p:txBody>
      </p:sp>
      <p:sp>
        <p:nvSpPr>
          <p:cNvPr id="77" name="SK-5-text-76"/>
          <p:cNvSpPr/>
          <p:nvPr/>
        </p:nvSpPr>
        <p:spPr>
          <a:xfrm>
            <a:off x="10168086" y="5328642"/>
            <a:ext cx="131064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0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adapter</a:t>
            </a:r>
            <a:endParaRPr lang="en-US" sz="900" dirty="0"/>
          </a:p>
        </p:txBody>
      </p:sp>
      <p:sp>
        <p:nvSpPr>
          <p:cNvPr id="78" name="SK-5-text-77"/>
          <p:cNvSpPr/>
          <p:nvPr/>
        </p:nvSpPr>
        <p:spPr>
          <a:xfrm>
            <a:off x="11411694" y="4923979"/>
            <a:ext cx="55626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No:</a:t>
            </a:r>
            <a:endParaRPr lang="en-US" sz="1050" dirty="0"/>
          </a:p>
        </p:txBody>
      </p:sp>
      <p:sp>
        <p:nvSpPr>
          <p:cNvPr id="79" name="SK-5-text-78"/>
          <p:cNvSpPr/>
          <p:nvPr/>
        </p:nvSpPr>
        <p:spPr>
          <a:xfrm>
            <a:off x="11240988" y="5150346"/>
            <a:ext cx="560784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</a:t>
            </a:r>
            <a:endParaRPr lang="en-US" sz="1050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</a:t>
            </a:r>
            <a:endParaRPr lang="en-US" sz="1050" dirty="0"/>
          </a:p>
        </p:txBody>
      </p:sp>
      <p:sp>
        <p:nvSpPr>
          <p:cNvPr id="80" name="SK-5-text-79"/>
          <p:cNvSpPr/>
          <p:nvPr/>
        </p:nvSpPr>
        <p:spPr>
          <a:xfrm>
            <a:off x="853380" y="5959525"/>
            <a:ext cx="2087880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Frozen backbone:</a:t>
            </a:r>
            <a:endParaRPr lang="en-US" sz="825" dirty="0"/>
          </a:p>
        </p:txBody>
      </p:sp>
      <p:sp>
        <p:nvSpPr>
          <p:cNvPr id="81" name="SK-5-text-80"/>
          <p:cNvSpPr/>
          <p:nvPr/>
        </p:nvSpPr>
        <p:spPr>
          <a:xfrm>
            <a:off x="853380" y="6130975"/>
            <a:ext cx="2057400" cy="1028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YOLO26n features</a:t>
            </a:r>
            <a:endParaRPr lang="en-US" sz="750" dirty="0"/>
          </a:p>
        </p:txBody>
      </p:sp>
      <p:sp>
        <p:nvSpPr>
          <p:cNvPr id="82" name="SK-5-text-81"/>
          <p:cNvSpPr/>
          <p:nvPr/>
        </p:nvSpPr>
        <p:spPr>
          <a:xfrm>
            <a:off x="853380" y="6281886"/>
            <a:ext cx="1219200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fixed.</a:t>
            </a:r>
            <a:endParaRPr lang="en-US" sz="750" dirty="0"/>
          </a:p>
        </p:txBody>
      </p:sp>
      <p:sp>
        <p:nvSpPr>
          <p:cNvPr id="83" name="SK-5-text-82"/>
          <p:cNvSpPr/>
          <p:nvPr/>
        </p:nvSpPr>
        <p:spPr>
          <a:xfrm>
            <a:off x="2621161" y="5959525"/>
            <a:ext cx="296799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Patch-level processing:</a:t>
            </a:r>
            <a:endParaRPr lang="en-US" sz="825" dirty="0"/>
          </a:p>
        </p:txBody>
      </p:sp>
      <p:sp>
        <p:nvSpPr>
          <p:cNvPr id="84" name="SK-5-text-83"/>
          <p:cNvSpPr/>
          <p:nvPr/>
        </p:nvSpPr>
        <p:spPr>
          <a:xfrm>
            <a:off x="2645569" y="6130975"/>
            <a:ext cx="2247900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196 local regions</a:t>
            </a:r>
            <a:endParaRPr lang="en-US" sz="750" dirty="0"/>
          </a:p>
        </p:txBody>
      </p:sp>
      <p:sp>
        <p:nvSpPr>
          <p:cNvPr id="85" name="SK-5-text-84"/>
          <p:cNvSpPr/>
          <p:nvPr/>
        </p:nvSpPr>
        <p:spPr>
          <a:xfrm>
            <a:off x="2645569" y="6281886"/>
            <a:ext cx="121920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image.</a:t>
            </a:r>
            <a:endParaRPr lang="en-US" sz="750" dirty="0"/>
          </a:p>
        </p:txBody>
      </p:sp>
      <p:sp>
        <p:nvSpPr>
          <p:cNvPr id="86" name="SK-5-text-85"/>
          <p:cNvSpPr/>
          <p:nvPr/>
        </p:nvSpPr>
        <p:spPr>
          <a:xfrm>
            <a:off x="4620667" y="5959525"/>
            <a:ext cx="158496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bank:</a:t>
            </a:r>
            <a:endParaRPr lang="en-US" sz="825" dirty="0"/>
          </a:p>
        </p:txBody>
      </p:sp>
      <p:sp>
        <p:nvSpPr>
          <p:cNvPr id="87" name="SK-5-text-86"/>
          <p:cNvSpPr/>
          <p:nvPr/>
        </p:nvSpPr>
        <p:spPr>
          <a:xfrm>
            <a:off x="4620667" y="6130975"/>
            <a:ext cx="2247900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Stores normal patch</a:t>
            </a:r>
            <a:endParaRPr lang="en-US" sz="750" dirty="0"/>
          </a:p>
        </p:txBody>
      </p:sp>
      <p:sp>
        <p:nvSpPr>
          <p:cNvPr id="88" name="SK-5-text-87"/>
          <p:cNvSpPr/>
          <p:nvPr/>
        </p:nvSpPr>
        <p:spPr>
          <a:xfrm>
            <a:off x="4620667" y="6281886"/>
            <a:ext cx="1905000" cy="1233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representations.</a:t>
            </a:r>
            <a:endParaRPr lang="en-US" sz="750" dirty="0"/>
          </a:p>
        </p:txBody>
      </p:sp>
      <p:sp>
        <p:nvSpPr>
          <p:cNvPr id="89" name="SK-5-text-88"/>
          <p:cNvSpPr/>
          <p:nvPr/>
        </p:nvSpPr>
        <p:spPr>
          <a:xfrm>
            <a:off x="6522690" y="5959525"/>
            <a:ext cx="183642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Top-K scoring:</a:t>
            </a:r>
            <a:endParaRPr lang="en-US" sz="825" dirty="0"/>
          </a:p>
        </p:txBody>
      </p:sp>
      <p:sp>
        <p:nvSpPr>
          <p:cNvPr id="90" name="SK-5-text-89"/>
          <p:cNvSpPr/>
          <p:nvPr/>
        </p:nvSpPr>
        <p:spPr>
          <a:xfrm>
            <a:off x="6522690" y="6130975"/>
            <a:ext cx="2590800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most abnormal</a:t>
            </a:r>
            <a:endParaRPr lang="en-US" sz="750" dirty="0"/>
          </a:p>
        </p:txBody>
      </p:sp>
      <p:sp>
        <p:nvSpPr>
          <p:cNvPr id="91" name="SK-5-text-90"/>
          <p:cNvSpPr/>
          <p:nvPr/>
        </p:nvSpPr>
        <p:spPr>
          <a:xfrm>
            <a:off x="6534894" y="6281886"/>
            <a:ext cx="1676400" cy="1233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regions.</a:t>
            </a:r>
            <a:endParaRPr lang="en-US" sz="750" dirty="0"/>
          </a:p>
        </p:txBody>
      </p:sp>
      <p:sp>
        <p:nvSpPr>
          <p:cNvPr id="92" name="SK-5-text-91"/>
          <p:cNvSpPr/>
          <p:nvPr/>
        </p:nvSpPr>
        <p:spPr>
          <a:xfrm>
            <a:off x="8546455" y="5959525"/>
            <a:ext cx="2842260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Calibrated thresholds:</a:t>
            </a:r>
            <a:endParaRPr lang="en-US" sz="825" dirty="0"/>
          </a:p>
        </p:txBody>
      </p:sp>
      <p:sp>
        <p:nvSpPr>
          <p:cNvPr id="93" name="SK-5-text-92"/>
          <p:cNvSpPr/>
          <p:nvPr/>
        </p:nvSpPr>
        <p:spPr>
          <a:xfrm>
            <a:off x="8546455" y="6130975"/>
            <a:ext cx="2819400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using trusted-normal</a:t>
            </a:r>
            <a:endParaRPr lang="en-US" sz="750" dirty="0"/>
          </a:p>
        </p:txBody>
      </p:sp>
      <p:sp>
        <p:nvSpPr>
          <p:cNvPr id="94" name="SK-5-text-93"/>
          <p:cNvSpPr/>
          <p:nvPr/>
        </p:nvSpPr>
        <p:spPr>
          <a:xfrm>
            <a:off x="8558659" y="6281886"/>
            <a:ext cx="1562100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distribution.</a:t>
            </a:r>
            <a:endParaRPr lang="en-US" sz="750" dirty="0"/>
          </a:p>
        </p:txBody>
      </p:sp>
      <p:sp>
        <p:nvSpPr>
          <p:cNvPr id="95" name="SK-5-text-94"/>
          <p:cNvSpPr/>
          <p:nvPr/>
        </p:nvSpPr>
        <p:spPr>
          <a:xfrm>
            <a:off x="10594777" y="5959525"/>
            <a:ext cx="159722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Dual safety checks:</a:t>
            </a:r>
            <a:endParaRPr lang="en-US" sz="825" dirty="0"/>
          </a:p>
        </p:txBody>
      </p:sp>
      <p:sp>
        <p:nvSpPr>
          <p:cNvPr id="96" name="SK-5-text-95"/>
          <p:cNvSpPr/>
          <p:nvPr/>
        </p:nvSpPr>
        <p:spPr>
          <a:xfrm>
            <a:off x="10594777" y="6130975"/>
            <a:ext cx="1597223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 contamination</a:t>
            </a:r>
            <a:endParaRPr lang="en-US" sz="750" dirty="0"/>
          </a:p>
        </p:txBody>
      </p:sp>
      <p:sp>
        <p:nvSpPr>
          <p:cNvPr id="97" name="SK-5-text-96"/>
          <p:cNvSpPr/>
          <p:nvPr/>
        </p:nvSpPr>
        <p:spPr>
          <a:xfrm>
            <a:off x="10594777" y="6281886"/>
            <a:ext cx="159722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750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updating.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53" y="932557"/>
            <a:ext cx="1206996" cy="150763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153" y="0"/>
            <a:ext cx="1060698" cy="946398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173" y="795486"/>
            <a:ext cx="3657600" cy="624036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81229"/>
            <a:ext cx="1060698" cy="1076623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26969"/>
            <a:ext cx="2450455" cy="253603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3671" y="6014442"/>
            <a:ext cx="1158180" cy="843409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7467" y="6425803"/>
            <a:ext cx="1536055" cy="164455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3592" y="6034980"/>
            <a:ext cx="6059388" cy="534888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9969" y="6172200"/>
            <a:ext cx="243780" cy="253603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2094" y="6144667"/>
            <a:ext cx="316855" cy="315367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557" y="1748730"/>
            <a:ext cx="11740753" cy="4066729"/>
          </a:xfrm>
          <a:prstGeom prst="rect">
            <a:avLst/>
          </a:prstGeom>
        </p:spPr>
      </p:pic>
      <p:sp>
        <p:nvSpPr>
          <p:cNvPr id="14" name="SK-6-text-13"/>
          <p:cNvSpPr/>
          <p:nvPr/>
        </p:nvSpPr>
        <p:spPr>
          <a:xfrm>
            <a:off x="414486" y="329059"/>
            <a:ext cx="11750040" cy="507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15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Implementation</a:t>
            </a:r>
            <a:endParaRPr lang="en-US" sz="3600" dirty="0"/>
          </a:p>
        </p:txBody>
      </p:sp>
      <p:sp>
        <p:nvSpPr>
          <p:cNvPr id="15" name="SK-6-text-14"/>
          <p:cNvSpPr/>
          <p:nvPr/>
        </p:nvSpPr>
        <p:spPr>
          <a:xfrm>
            <a:off x="414486" y="1145232"/>
            <a:ext cx="11777514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offline patch-memory preparation to operator-facing low-code monitoring.</a:t>
            </a:r>
            <a:endParaRPr lang="en-US" sz="1350" dirty="0"/>
          </a:p>
        </p:txBody>
      </p:sp>
      <p:sp>
        <p:nvSpPr>
          <p:cNvPr id="16" name="SK-6-text-15"/>
          <p:cNvSpPr/>
          <p:nvPr/>
        </p:nvSpPr>
        <p:spPr>
          <a:xfrm>
            <a:off x="3950196" y="6213277"/>
            <a:ext cx="8241804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retains model logic; Flask connects it to the low-code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86" y="857250"/>
            <a:ext cx="1072753" cy="116532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1511"/>
            <a:ext cx="1072753" cy="432048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596" y="1337221"/>
            <a:ext cx="3974455" cy="4100959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580" y="3602534"/>
            <a:ext cx="3474690" cy="9525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8580" y="4226570"/>
            <a:ext cx="3474690" cy="9525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8580" y="4850606"/>
            <a:ext cx="3474690" cy="9525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690" y="4869061"/>
            <a:ext cx="1219200" cy="191988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098" y="5616625"/>
            <a:ext cx="10802094" cy="912019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7848" y="5726311"/>
            <a:ext cx="19050" cy="685800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3730" y="5726311"/>
            <a:ext cx="19050" cy="685800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6059" y="5726311"/>
            <a:ext cx="19050" cy="685800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5977" y="5740003"/>
            <a:ext cx="670471" cy="658267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32463" y="5740003"/>
            <a:ext cx="646063" cy="658267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5561" y="5740003"/>
            <a:ext cx="633859" cy="658267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953" y="5740003"/>
            <a:ext cx="646063" cy="658267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44173" y="4875907"/>
            <a:ext cx="438894" cy="438894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44173" y="4293096"/>
            <a:ext cx="451098" cy="438894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44173" y="3703290"/>
            <a:ext cx="438894" cy="452586"/>
          </a:xfrm>
          <a:prstGeom prst="rect">
            <a:avLst/>
          </a:prstGeom>
        </p:spPr>
      </p:pic>
      <p:pic>
        <p:nvPicPr>
          <p:cNvPr id="22" name="SK-7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8894" y="1954411"/>
            <a:ext cx="3645396" cy="1508671"/>
          </a:xfrm>
          <a:prstGeom prst="rect">
            <a:avLst/>
          </a:prstGeom>
        </p:spPr>
      </p:pic>
      <p:pic>
        <p:nvPicPr>
          <p:cNvPr id="23" name="SK-7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7875" y="2029867"/>
            <a:ext cx="7120086" cy="3387775"/>
          </a:xfrm>
          <a:prstGeom prst="rect">
            <a:avLst/>
          </a:prstGeom>
        </p:spPr>
      </p:pic>
      <p:sp>
        <p:nvSpPr>
          <p:cNvPr id="24" name="SK-7-text-23"/>
          <p:cNvSpPr/>
          <p:nvPr/>
        </p:nvSpPr>
        <p:spPr>
          <a:xfrm>
            <a:off x="707082" y="253603"/>
            <a:ext cx="11484918" cy="5691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1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Representation Improvement</a:t>
            </a:r>
            <a:endParaRPr lang="en-US" sz="3750" dirty="0"/>
          </a:p>
        </p:txBody>
      </p:sp>
      <p:sp>
        <p:nvSpPr>
          <p:cNvPr id="25" name="SK-7-text-24"/>
          <p:cNvSpPr/>
          <p:nvPr/>
        </p:nvSpPr>
        <p:spPr>
          <a:xfrm>
            <a:off x="8107561" y="253603"/>
            <a:ext cx="4084439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52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+8.18 pp AUROC</a:t>
            </a:r>
            <a:endParaRPr lang="en-US" sz="3750" dirty="0"/>
          </a:p>
        </p:txBody>
      </p:sp>
      <p:sp>
        <p:nvSpPr>
          <p:cNvPr id="26" name="SK-7-text-25"/>
          <p:cNvSpPr/>
          <p:nvPr/>
        </p:nvSpPr>
        <p:spPr>
          <a:xfrm>
            <a:off x="8156377" y="864096"/>
            <a:ext cx="4035623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0052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feature → local patch representation.</a:t>
            </a:r>
            <a:endParaRPr lang="en-US" sz="1500" dirty="0"/>
          </a:p>
        </p:txBody>
      </p:sp>
      <p:sp>
        <p:nvSpPr>
          <p:cNvPr id="27" name="SK-7-text-26"/>
          <p:cNvSpPr/>
          <p:nvPr/>
        </p:nvSpPr>
        <p:spPr>
          <a:xfrm>
            <a:off x="707082" y="1110853"/>
            <a:ext cx="1148491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patch features preserve evidence that whole-image embeddings can average away.</a:t>
            </a:r>
            <a:endParaRPr lang="en-US" sz="1350" dirty="0"/>
          </a:p>
        </p:txBody>
      </p:sp>
      <p:sp>
        <p:nvSpPr>
          <p:cNvPr id="28" name="SK-7-text-27"/>
          <p:cNvSpPr/>
          <p:nvPr/>
        </p:nvSpPr>
        <p:spPr>
          <a:xfrm>
            <a:off x="2877294" y="1659582"/>
            <a:ext cx="6149340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1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 AUROC Progression</a:t>
            </a:r>
            <a:endParaRPr lang="en-US" sz="1800" dirty="0"/>
          </a:p>
        </p:txBody>
      </p:sp>
      <p:sp>
        <p:nvSpPr>
          <p:cNvPr id="29" name="SK-7-text-28"/>
          <p:cNvSpPr/>
          <p:nvPr/>
        </p:nvSpPr>
        <p:spPr>
          <a:xfrm>
            <a:off x="8241655" y="1453753"/>
            <a:ext cx="1243459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Whole-image</a:t>
            </a:r>
            <a:endParaRPr lang="en-US" sz="12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(averaged)</a:t>
            </a:r>
            <a:endParaRPr lang="en-US" sz="1200" dirty="0"/>
          </a:p>
        </p:txBody>
      </p:sp>
      <p:sp>
        <p:nvSpPr>
          <p:cNvPr id="30" name="SK-7-text-29"/>
          <p:cNvSpPr/>
          <p:nvPr/>
        </p:nvSpPr>
        <p:spPr>
          <a:xfrm>
            <a:off x="10485090" y="1440061"/>
            <a:ext cx="999679" cy="5759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patch</a:t>
            </a:r>
            <a:endParaRPr lang="en-US" sz="12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representation</a:t>
            </a:r>
            <a:endParaRPr lang="en-US" sz="12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(14 × 14 grid)</a:t>
            </a:r>
            <a:endParaRPr lang="en-US" sz="1200" dirty="0"/>
          </a:p>
        </p:txBody>
      </p:sp>
      <p:sp>
        <p:nvSpPr>
          <p:cNvPr id="31" name="SK-7-text-30"/>
          <p:cNvSpPr/>
          <p:nvPr/>
        </p:nvSpPr>
        <p:spPr>
          <a:xfrm>
            <a:off x="8668494" y="3730675"/>
            <a:ext cx="2572494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1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Whole-image embeddings can dilute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1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defects.</a:t>
            </a:r>
            <a:endParaRPr lang="en-US" sz="1200" dirty="0"/>
          </a:p>
        </p:txBody>
      </p:sp>
      <p:sp>
        <p:nvSpPr>
          <p:cNvPr id="32" name="SK-7-text-31"/>
          <p:cNvSpPr/>
          <p:nvPr/>
        </p:nvSpPr>
        <p:spPr>
          <a:xfrm>
            <a:off x="8668494" y="4320480"/>
            <a:ext cx="1889671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1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14 × 14 grid retains local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1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evidence.</a:t>
            </a:r>
            <a:endParaRPr lang="en-US" sz="1200" dirty="0"/>
          </a:p>
        </p:txBody>
      </p:sp>
      <p:sp>
        <p:nvSpPr>
          <p:cNvPr id="33" name="SK-7-text-32"/>
          <p:cNvSpPr/>
          <p:nvPr/>
        </p:nvSpPr>
        <p:spPr>
          <a:xfrm>
            <a:off x="8680698" y="4923979"/>
            <a:ext cx="2121396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1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Top-5% scoring focuses on the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1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unusual patches.</a:t>
            </a:r>
            <a:endParaRPr lang="en-US" sz="1200" dirty="0"/>
          </a:p>
        </p:txBody>
      </p:sp>
      <p:sp>
        <p:nvSpPr>
          <p:cNvPr id="34" name="SK-7-text-33"/>
          <p:cNvSpPr/>
          <p:nvPr/>
        </p:nvSpPr>
        <p:spPr>
          <a:xfrm>
            <a:off x="1511796" y="5788075"/>
            <a:ext cx="461200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offline accuracy</a:t>
            </a:r>
            <a:endParaRPr lang="en-US" sz="1350" dirty="0"/>
          </a:p>
        </p:txBody>
      </p:sp>
      <p:sp>
        <p:nvSpPr>
          <p:cNvPr id="35" name="SK-7-text-34"/>
          <p:cNvSpPr/>
          <p:nvPr/>
        </p:nvSpPr>
        <p:spPr>
          <a:xfrm>
            <a:off x="1524000" y="6069211"/>
            <a:ext cx="3322320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82.36%</a:t>
            </a:r>
            <a:endParaRPr lang="en-US" sz="2400" dirty="0"/>
          </a:p>
        </p:txBody>
      </p:sp>
      <p:sp>
        <p:nvSpPr>
          <p:cNvPr id="36" name="SK-7-text-35"/>
          <p:cNvSpPr/>
          <p:nvPr/>
        </p:nvSpPr>
        <p:spPr>
          <a:xfrm>
            <a:off x="4267200" y="5794921"/>
            <a:ext cx="276034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recall</a:t>
            </a:r>
            <a:endParaRPr lang="en-US" sz="1350" dirty="0"/>
          </a:p>
        </p:txBody>
      </p:sp>
      <p:sp>
        <p:nvSpPr>
          <p:cNvPr id="37" name="SK-7-text-36"/>
          <p:cNvSpPr/>
          <p:nvPr/>
        </p:nvSpPr>
        <p:spPr>
          <a:xfrm>
            <a:off x="4291459" y="6069211"/>
            <a:ext cx="3322320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84.59%</a:t>
            </a:r>
            <a:endParaRPr lang="en-US" sz="2400" dirty="0"/>
          </a:p>
        </p:txBody>
      </p:sp>
      <p:sp>
        <p:nvSpPr>
          <p:cNvPr id="38" name="SK-7-text-37"/>
          <p:cNvSpPr/>
          <p:nvPr/>
        </p:nvSpPr>
        <p:spPr>
          <a:xfrm>
            <a:off x="6888361" y="5815459"/>
            <a:ext cx="296608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Anomaly recall</a:t>
            </a:r>
            <a:endParaRPr lang="en-US" sz="1350" dirty="0"/>
          </a:p>
        </p:txBody>
      </p:sp>
      <p:sp>
        <p:nvSpPr>
          <p:cNvPr id="39" name="SK-7-text-38"/>
          <p:cNvSpPr/>
          <p:nvPr/>
        </p:nvSpPr>
        <p:spPr>
          <a:xfrm>
            <a:off x="6888361" y="6089898"/>
            <a:ext cx="3322320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80.86%</a:t>
            </a:r>
            <a:endParaRPr lang="en-US" sz="2400" dirty="0"/>
          </a:p>
        </p:txBody>
      </p:sp>
      <p:sp>
        <p:nvSpPr>
          <p:cNvPr id="40" name="SK-7-text-39"/>
          <p:cNvSpPr/>
          <p:nvPr/>
        </p:nvSpPr>
        <p:spPr>
          <a:xfrm>
            <a:off x="9570690" y="5788075"/>
            <a:ext cx="18688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Macro F1</a:t>
            </a:r>
            <a:endParaRPr lang="en-US" sz="1350" dirty="0"/>
          </a:p>
        </p:txBody>
      </p:sp>
      <p:sp>
        <p:nvSpPr>
          <p:cNvPr id="41" name="SK-7-text-40"/>
          <p:cNvSpPr/>
          <p:nvPr/>
        </p:nvSpPr>
        <p:spPr>
          <a:xfrm>
            <a:off x="9570690" y="6069211"/>
            <a:ext cx="2621310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78.42%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980" y="0"/>
            <a:ext cx="1584871" cy="1577280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6371"/>
            <a:ext cx="1462980" cy="891480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57400"/>
            <a:ext cx="7400479" cy="4457700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69" y="792212"/>
            <a:ext cx="1779984" cy="47625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479" y="610344"/>
            <a:ext cx="4401294" cy="5932140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0479" y="610344"/>
            <a:ext cx="4401294" cy="75307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2391" y="2434530"/>
            <a:ext cx="9525" cy="1062930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3388" y="3664148"/>
            <a:ext cx="4035475" cy="9525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3388" y="5666780"/>
            <a:ext cx="4035475" cy="9525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1890" y="5815459"/>
            <a:ext cx="402282" cy="397669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1890" y="5047357"/>
            <a:ext cx="499765" cy="528042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1890" y="4464546"/>
            <a:ext cx="499765" cy="459432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66298" y="3799284"/>
            <a:ext cx="499765" cy="507355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8353" y="843409"/>
            <a:ext cx="755898" cy="630882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0557" y="1769269"/>
            <a:ext cx="6888361" cy="4622155"/>
          </a:xfrm>
          <a:prstGeom prst="rect">
            <a:avLst/>
          </a:prstGeom>
        </p:spPr>
      </p:pic>
      <p:sp>
        <p:nvSpPr>
          <p:cNvPr id="18" name="SK-8-text-17"/>
          <p:cNvSpPr/>
          <p:nvPr/>
        </p:nvSpPr>
        <p:spPr>
          <a:xfrm>
            <a:off x="451098" y="239911"/>
            <a:ext cx="9791700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Ablation Result</a:t>
            </a:r>
            <a:endParaRPr lang="en-US" sz="3000" dirty="0"/>
          </a:p>
        </p:txBody>
      </p:sp>
      <p:sp>
        <p:nvSpPr>
          <p:cNvPr id="19" name="SK-8-text-18"/>
          <p:cNvSpPr/>
          <p:nvPr/>
        </p:nvSpPr>
        <p:spPr>
          <a:xfrm>
            <a:off x="451098" y="1021705"/>
            <a:ext cx="1174090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deployment modes evaluated across shuffled test streams.</a:t>
            </a:r>
            <a:endParaRPr lang="en-US" sz="1425" dirty="0"/>
          </a:p>
        </p:txBody>
      </p:sp>
      <p:sp>
        <p:nvSpPr>
          <p:cNvPr id="20" name="SK-8-text-19"/>
          <p:cNvSpPr/>
          <p:nvPr/>
        </p:nvSpPr>
        <p:spPr>
          <a:xfrm>
            <a:off x="451098" y="1392138"/>
            <a:ext cx="1174090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CTTA delivers the strongest overall balance.</a:t>
            </a:r>
            <a:endParaRPr lang="en-US" sz="1500" dirty="0"/>
          </a:p>
        </p:txBody>
      </p:sp>
      <p:sp>
        <p:nvSpPr>
          <p:cNvPr id="21" name="SK-8-text-20"/>
          <p:cNvSpPr/>
          <p:nvPr/>
        </p:nvSpPr>
        <p:spPr>
          <a:xfrm>
            <a:off x="8644086" y="1042392"/>
            <a:ext cx="354791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DEFAULT DEPLOYMENT</a:t>
            </a:r>
            <a:endParaRPr lang="en-US" sz="1500" dirty="0"/>
          </a:p>
        </p:txBody>
      </p:sp>
      <p:sp>
        <p:nvSpPr>
          <p:cNvPr id="22" name="SK-8-text-21"/>
          <p:cNvSpPr/>
          <p:nvPr/>
        </p:nvSpPr>
        <p:spPr>
          <a:xfrm>
            <a:off x="7863780" y="1632198"/>
            <a:ext cx="4328220" cy="5691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41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CTTA</a:t>
            </a:r>
            <a:endParaRPr lang="en-US" sz="4125" dirty="0"/>
          </a:p>
        </p:txBody>
      </p:sp>
      <p:sp>
        <p:nvSpPr>
          <p:cNvPr id="23" name="SK-8-text-22"/>
          <p:cNvSpPr/>
          <p:nvPr/>
        </p:nvSpPr>
        <p:spPr>
          <a:xfrm>
            <a:off x="7827169" y="2386459"/>
            <a:ext cx="4364831" cy="473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85.22%</a:t>
            </a:r>
            <a:endParaRPr lang="en-US" sz="3600" dirty="0"/>
          </a:p>
        </p:txBody>
      </p:sp>
      <p:sp>
        <p:nvSpPr>
          <p:cNvPr id="24" name="SK-8-text-23"/>
          <p:cNvSpPr/>
          <p:nvPr/>
        </p:nvSpPr>
        <p:spPr>
          <a:xfrm>
            <a:off x="8034486" y="2962573"/>
            <a:ext cx="230886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1800" dirty="0"/>
          </a:p>
        </p:txBody>
      </p:sp>
      <p:sp>
        <p:nvSpPr>
          <p:cNvPr id="25" name="SK-8-text-24"/>
          <p:cNvSpPr/>
          <p:nvPr/>
        </p:nvSpPr>
        <p:spPr>
          <a:xfrm>
            <a:off x="8156377" y="3278088"/>
            <a:ext cx="204501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0.42%</a:t>
            </a:r>
            <a:endParaRPr lang="en-US" sz="1425" dirty="0"/>
          </a:p>
        </p:txBody>
      </p:sp>
      <p:sp>
        <p:nvSpPr>
          <p:cNvPr id="26" name="SK-8-text-25"/>
          <p:cNvSpPr/>
          <p:nvPr/>
        </p:nvSpPr>
        <p:spPr>
          <a:xfrm>
            <a:off x="9936361" y="2393305"/>
            <a:ext cx="2255639" cy="4662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85.19%</a:t>
            </a:r>
            <a:endParaRPr lang="en-US" sz="3600" dirty="0"/>
          </a:p>
        </p:txBody>
      </p:sp>
      <p:sp>
        <p:nvSpPr>
          <p:cNvPr id="27" name="SK-8-text-26"/>
          <p:cNvSpPr/>
          <p:nvPr/>
        </p:nvSpPr>
        <p:spPr>
          <a:xfrm>
            <a:off x="10168086" y="2962573"/>
            <a:ext cx="202391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Macro F1</a:t>
            </a:r>
            <a:endParaRPr lang="en-US" sz="1800" dirty="0"/>
          </a:p>
        </p:txBody>
      </p:sp>
      <p:sp>
        <p:nvSpPr>
          <p:cNvPr id="28" name="SK-8-text-27"/>
          <p:cNvSpPr/>
          <p:nvPr/>
        </p:nvSpPr>
        <p:spPr>
          <a:xfrm>
            <a:off x="10277773" y="3271242"/>
            <a:ext cx="191422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 0.43%</a:t>
            </a:r>
            <a:endParaRPr lang="en-US" sz="1425" dirty="0"/>
          </a:p>
        </p:txBody>
      </p:sp>
      <p:sp>
        <p:nvSpPr>
          <p:cNvPr id="29" name="SK-8-text-28"/>
          <p:cNvSpPr/>
          <p:nvPr/>
        </p:nvSpPr>
        <p:spPr>
          <a:xfrm>
            <a:off x="8436769" y="3826669"/>
            <a:ext cx="269652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Calibration:</a:t>
            </a:r>
            <a:endParaRPr lang="en-US" sz="1425" dirty="0"/>
          </a:p>
        </p:txBody>
      </p:sp>
      <p:sp>
        <p:nvSpPr>
          <p:cNvPr id="30" name="SK-8-text-29"/>
          <p:cNvSpPr/>
          <p:nvPr/>
        </p:nvSpPr>
        <p:spPr>
          <a:xfrm>
            <a:off x="8436769" y="4087267"/>
            <a:ext cx="375523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Largest deployment gain: +4.67 points</a:t>
            </a:r>
            <a:endParaRPr lang="en-US" sz="1425" dirty="0"/>
          </a:p>
        </p:txBody>
      </p:sp>
      <p:sp>
        <p:nvSpPr>
          <p:cNvPr id="31" name="SK-8-text-30"/>
          <p:cNvSpPr/>
          <p:nvPr/>
        </p:nvSpPr>
        <p:spPr>
          <a:xfrm>
            <a:off x="8436769" y="4587925"/>
            <a:ext cx="375523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overall Accuracy and Macro F1</a:t>
            </a:r>
            <a:endParaRPr lang="en-US" sz="1425" dirty="0"/>
          </a:p>
        </p:txBody>
      </p:sp>
      <p:sp>
        <p:nvSpPr>
          <p:cNvPr id="32" name="SK-8-text-31"/>
          <p:cNvSpPr/>
          <p:nvPr/>
        </p:nvSpPr>
        <p:spPr>
          <a:xfrm>
            <a:off x="8424565" y="5088582"/>
            <a:ext cx="2121396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online state; lower</a:t>
            </a:r>
            <a:endParaRPr lang="en-US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parameter-drift risk</a:t>
            </a:r>
            <a:endParaRPr lang="en-US" sz="1350" dirty="0"/>
          </a:p>
        </p:txBody>
      </p:sp>
      <p:sp>
        <p:nvSpPr>
          <p:cNvPr id="33" name="SK-8-text-32"/>
          <p:cNvSpPr/>
          <p:nvPr/>
        </p:nvSpPr>
        <p:spPr>
          <a:xfrm>
            <a:off x="8290471" y="5856684"/>
            <a:ext cx="2804071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7788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CTTA: best normal recall,</a:t>
            </a:r>
            <a:endParaRPr lang="en-US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7788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 more defective updates accepted.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973" y="5822305"/>
            <a:ext cx="524173" cy="596503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65" y="5808613"/>
            <a:ext cx="682675" cy="596503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082" y="5980063"/>
            <a:ext cx="499765" cy="239911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894" y="5808613"/>
            <a:ext cx="633859" cy="596503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275" y="5980063"/>
            <a:ext cx="524173" cy="239911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992" y="5808613"/>
            <a:ext cx="731490" cy="603498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969" y="877788"/>
            <a:ext cx="11435953" cy="4677073"/>
          </a:xfrm>
          <a:prstGeom prst="rect">
            <a:avLst/>
          </a:prstGeom>
        </p:spPr>
      </p:pic>
      <p:sp>
        <p:nvSpPr>
          <p:cNvPr id="10" name="SK-9-text-9"/>
          <p:cNvSpPr/>
          <p:nvPr/>
        </p:nvSpPr>
        <p:spPr>
          <a:xfrm>
            <a:off x="511969" y="452586"/>
            <a:ext cx="11115675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1B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 Demo and CiRA CORE UI</a:t>
            </a:r>
            <a:endParaRPr lang="en-US" sz="2250" dirty="0"/>
          </a:p>
        </p:txBody>
      </p:sp>
      <p:sp>
        <p:nvSpPr>
          <p:cNvPr id="11" name="SK-9-text-10"/>
          <p:cNvSpPr/>
          <p:nvPr/>
        </p:nvSpPr>
        <p:spPr>
          <a:xfrm>
            <a:off x="1706761" y="5925294"/>
            <a:ext cx="987475" cy="4045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detection logic</a:t>
            </a:r>
            <a:endParaRPr lang="en-US" sz="1200" dirty="0"/>
          </a:p>
        </p:txBody>
      </p:sp>
      <p:sp>
        <p:nvSpPr>
          <p:cNvPr id="12" name="SK-9-text-11"/>
          <p:cNvSpPr/>
          <p:nvPr/>
        </p:nvSpPr>
        <p:spPr>
          <a:xfrm>
            <a:off x="4218384" y="5932140"/>
            <a:ext cx="902196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service</a:t>
            </a:r>
            <a:endParaRPr lang="en-US" sz="1200" dirty="0"/>
          </a:p>
        </p:txBody>
      </p:sp>
      <p:sp>
        <p:nvSpPr>
          <p:cNvPr id="13" name="SK-9-text-12"/>
          <p:cNvSpPr/>
          <p:nvPr/>
        </p:nvSpPr>
        <p:spPr>
          <a:xfrm>
            <a:off x="6742063" y="5918448"/>
            <a:ext cx="1024086" cy="4045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CiRA CORE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workflow</a:t>
            </a:r>
            <a:endParaRPr lang="en-US" sz="1200" dirty="0"/>
          </a:p>
        </p:txBody>
      </p:sp>
      <p:sp>
        <p:nvSpPr>
          <p:cNvPr id="14" name="SK-9-text-13"/>
          <p:cNvSpPr/>
          <p:nvPr/>
        </p:nvSpPr>
        <p:spPr>
          <a:xfrm>
            <a:off x="9156055" y="5863530"/>
            <a:ext cx="1865263" cy="5965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 logging: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score, gate decision,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and adapter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180" y="0"/>
            <a:ext cx="1889671" cy="925711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23471"/>
            <a:ext cx="1097161" cy="1234380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63" y="707827"/>
            <a:ext cx="1304479" cy="38100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63" y="1274862"/>
            <a:ext cx="5279082" cy="3533180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90" y="3067496"/>
            <a:ext cx="4510980" cy="9525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063" y="4957614"/>
            <a:ext cx="5279082" cy="686991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1153" y="5342037"/>
            <a:ext cx="414486" cy="14288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8151" y="5315505"/>
            <a:ext cx="67352" cy="67352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5294" y="1988790"/>
            <a:ext cx="975271" cy="3360390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4973" y="760512"/>
            <a:ext cx="5071765" cy="2024360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93161" y="1723430"/>
            <a:ext cx="4510980" cy="9525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3161" y="2066330"/>
            <a:ext cx="4510980" cy="9525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0565" y="2913906"/>
            <a:ext cx="5120580" cy="2819846"/>
          </a:xfrm>
          <a:prstGeom prst="rect">
            <a:avLst/>
          </a:prstGeom>
        </p:spPr>
      </p:pic>
      <p:pic>
        <p:nvPicPr>
          <p:cNvPr id="16" name="SK-10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7882" y="3668911"/>
            <a:ext cx="329059" cy="1577280"/>
          </a:xfrm>
          <a:prstGeom prst="rect">
            <a:avLst/>
          </a:prstGeom>
        </p:spPr>
      </p:pic>
      <p:pic>
        <p:nvPicPr>
          <p:cNvPr id="17" name="SK-10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7961" y="3455640"/>
            <a:ext cx="4303663" cy="447080"/>
          </a:xfrm>
          <a:prstGeom prst="rect">
            <a:avLst/>
          </a:prstGeom>
        </p:spPr>
      </p:pic>
      <p:pic>
        <p:nvPicPr>
          <p:cNvPr id="18" name="SK-10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7961" y="3997523"/>
            <a:ext cx="4303663" cy="488156"/>
          </a:xfrm>
          <a:prstGeom prst="rect">
            <a:avLst/>
          </a:prstGeom>
        </p:spPr>
      </p:pic>
      <p:pic>
        <p:nvPicPr>
          <p:cNvPr id="19" name="SK-10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7961" y="4573488"/>
            <a:ext cx="4303663" cy="460772"/>
          </a:xfrm>
          <a:prstGeom prst="rect">
            <a:avLst/>
          </a:prstGeom>
        </p:spPr>
      </p:pic>
      <p:pic>
        <p:nvPicPr>
          <p:cNvPr id="20" name="SK-10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97961" y="5142756"/>
            <a:ext cx="4303663" cy="590996"/>
          </a:xfrm>
          <a:prstGeom prst="rect">
            <a:avLst/>
          </a:prstGeom>
        </p:spPr>
      </p:pic>
      <p:pic>
        <p:nvPicPr>
          <p:cNvPr id="21" name="SK-10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3380" y="5986314"/>
            <a:ext cx="10948392" cy="618530"/>
          </a:xfrm>
          <a:prstGeom prst="rect">
            <a:avLst/>
          </a:prstGeom>
        </p:spPr>
      </p:pic>
      <p:pic>
        <p:nvPicPr>
          <p:cNvPr id="22" name="SK-10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2753" y="6062365"/>
            <a:ext cx="426690" cy="466279"/>
          </a:xfrm>
          <a:prstGeom prst="rect">
            <a:avLst/>
          </a:prstGeom>
        </p:spPr>
      </p:pic>
      <p:pic>
        <p:nvPicPr>
          <p:cNvPr id="23" name="SK-10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00479" y="5218807"/>
            <a:ext cx="377875" cy="377130"/>
          </a:xfrm>
          <a:prstGeom prst="rect">
            <a:avLst/>
          </a:prstGeom>
        </p:spPr>
      </p:pic>
      <p:pic>
        <p:nvPicPr>
          <p:cNvPr id="24" name="SK-10-img-2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88275" y="4649688"/>
            <a:ext cx="390079" cy="308521"/>
          </a:xfrm>
          <a:prstGeom prst="rect">
            <a:avLst/>
          </a:prstGeom>
        </p:spPr>
      </p:pic>
      <p:pic>
        <p:nvPicPr>
          <p:cNvPr id="25" name="SK-10-img-24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88275" y="4073575"/>
            <a:ext cx="377875" cy="335905"/>
          </a:xfrm>
          <a:prstGeom prst="rect">
            <a:avLst/>
          </a:prstGeom>
        </p:spPr>
      </p:pic>
      <p:pic>
        <p:nvPicPr>
          <p:cNvPr id="26" name="SK-10-img-25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00479" y="3531840"/>
            <a:ext cx="304800" cy="294829"/>
          </a:xfrm>
          <a:prstGeom prst="rect">
            <a:avLst/>
          </a:prstGeom>
        </p:spPr>
      </p:pic>
      <p:pic>
        <p:nvPicPr>
          <p:cNvPr id="27" name="SK-10-img-26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00565" y="2989957"/>
            <a:ext cx="414486" cy="404515"/>
          </a:xfrm>
          <a:prstGeom prst="rect">
            <a:avLst/>
          </a:prstGeom>
        </p:spPr>
      </p:pic>
      <p:pic>
        <p:nvPicPr>
          <p:cNvPr id="28" name="SK-10-img-27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10400" y="2235696"/>
            <a:ext cx="341263" cy="308521"/>
          </a:xfrm>
          <a:prstGeom prst="rect">
            <a:avLst/>
          </a:prstGeom>
        </p:spPr>
      </p:pic>
      <p:pic>
        <p:nvPicPr>
          <p:cNvPr id="29" name="SK-10-img-28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010400" y="1762423"/>
            <a:ext cx="341263" cy="301675"/>
          </a:xfrm>
          <a:prstGeom prst="rect">
            <a:avLst/>
          </a:prstGeom>
        </p:spPr>
      </p:pic>
      <p:pic>
        <p:nvPicPr>
          <p:cNvPr id="30" name="SK-10-img-29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10400" y="1302990"/>
            <a:ext cx="341263" cy="301675"/>
          </a:xfrm>
          <a:prstGeom prst="rect">
            <a:avLst/>
          </a:prstGeom>
        </p:spPr>
      </p:pic>
      <p:pic>
        <p:nvPicPr>
          <p:cNvPr id="31" name="SK-10-img-30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1584" y="836563"/>
            <a:ext cx="414486" cy="390823"/>
          </a:xfrm>
          <a:prstGeom prst="rect">
            <a:avLst/>
          </a:prstGeom>
        </p:spPr>
      </p:pic>
      <p:pic>
        <p:nvPicPr>
          <p:cNvPr id="32" name="SK-10-img-31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00973" y="5143500"/>
            <a:ext cx="377875" cy="377130"/>
          </a:xfrm>
          <a:prstGeom prst="rect">
            <a:avLst/>
          </a:prstGeom>
        </p:spPr>
      </p:pic>
      <p:pic>
        <p:nvPicPr>
          <p:cNvPr id="33" name="SK-10-img-32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74455" y="5109121"/>
            <a:ext cx="365671" cy="432048"/>
          </a:xfrm>
          <a:prstGeom prst="rect">
            <a:avLst/>
          </a:prstGeom>
        </p:spPr>
      </p:pic>
      <p:pic>
        <p:nvPicPr>
          <p:cNvPr id="34" name="SK-10-img-33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38400" y="5033665"/>
            <a:ext cx="438894" cy="534888"/>
          </a:xfrm>
          <a:prstGeom prst="rect">
            <a:avLst/>
          </a:prstGeom>
        </p:spPr>
      </p:pic>
      <p:pic>
        <p:nvPicPr>
          <p:cNvPr id="35" name="SK-10-img-34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084784" y="5054203"/>
            <a:ext cx="280392" cy="342900"/>
          </a:xfrm>
          <a:prstGeom prst="rect">
            <a:avLst/>
          </a:prstGeom>
        </p:spPr>
      </p:pic>
      <p:pic>
        <p:nvPicPr>
          <p:cNvPr id="36" name="SK-10-img-35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6769" y="5088582"/>
            <a:ext cx="463153" cy="445740"/>
          </a:xfrm>
          <a:prstGeom prst="rect">
            <a:avLst/>
          </a:prstGeom>
        </p:spPr>
      </p:pic>
      <p:pic>
        <p:nvPicPr>
          <p:cNvPr id="37" name="SK-10-img-36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70384" y="4375398"/>
            <a:ext cx="316855" cy="356592"/>
          </a:xfrm>
          <a:prstGeom prst="rect">
            <a:avLst/>
          </a:prstGeom>
        </p:spPr>
      </p:pic>
      <p:pic>
        <p:nvPicPr>
          <p:cNvPr id="38" name="SK-10-img-37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70384" y="3984427"/>
            <a:ext cx="316855" cy="335905"/>
          </a:xfrm>
          <a:prstGeom prst="rect">
            <a:avLst/>
          </a:prstGeom>
        </p:spPr>
      </p:pic>
      <p:pic>
        <p:nvPicPr>
          <p:cNvPr id="39" name="SK-10-img-38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70384" y="3559225"/>
            <a:ext cx="316855" cy="356592"/>
          </a:xfrm>
          <a:prstGeom prst="rect">
            <a:avLst/>
          </a:prstGeom>
        </p:spPr>
      </p:pic>
      <p:pic>
        <p:nvPicPr>
          <p:cNvPr id="40" name="SK-10-img-39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82588" y="3161407"/>
            <a:ext cx="304800" cy="329059"/>
          </a:xfrm>
          <a:prstGeom prst="rect">
            <a:avLst/>
          </a:prstGeom>
        </p:spPr>
      </p:pic>
      <p:pic>
        <p:nvPicPr>
          <p:cNvPr id="41" name="SK-10-img-40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21161" y="1350913"/>
            <a:ext cx="1267867" cy="1254919"/>
          </a:xfrm>
          <a:prstGeom prst="rect">
            <a:avLst/>
          </a:prstGeom>
        </p:spPr>
      </p:pic>
      <p:sp>
        <p:nvSpPr>
          <p:cNvPr id="42" name="SK-10-text-41"/>
          <p:cNvSpPr/>
          <p:nvPr/>
        </p:nvSpPr>
        <p:spPr>
          <a:xfrm>
            <a:off x="268188" y="137071"/>
            <a:ext cx="11923812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D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Conclusion, Limitations, and Future Work</a:t>
            </a:r>
            <a:endParaRPr lang="en-US" sz="3000" dirty="0"/>
          </a:p>
        </p:txBody>
      </p:sp>
      <p:sp>
        <p:nvSpPr>
          <p:cNvPr id="43" name="SK-10-text-42"/>
          <p:cNvSpPr/>
          <p:nvPr/>
        </p:nvSpPr>
        <p:spPr>
          <a:xfrm>
            <a:off x="304800" y="864096"/>
            <a:ext cx="1188720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practical online adaptation path, with clear safeguards still to strengthen.</a:t>
            </a:r>
            <a:endParaRPr lang="en-US" sz="1500" dirty="0"/>
          </a:p>
        </p:txBody>
      </p:sp>
      <p:sp>
        <p:nvSpPr>
          <p:cNvPr id="44" name="SK-10-text-43"/>
          <p:cNvSpPr/>
          <p:nvPr/>
        </p:nvSpPr>
        <p:spPr>
          <a:xfrm>
            <a:off x="1084957" y="2653903"/>
            <a:ext cx="10429875" cy="3634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1D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Memory CTTA by Default.</a:t>
            </a:r>
            <a:endParaRPr lang="en-US" sz="2250" dirty="0"/>
          </a:p>
        </p:txBody>
      </p:sp>
      <p:sp>
        <p:nvSpPr>
          <p:cNvPr id="45" name="SK-10-text-44"/>
          <p:cNvSpPr/>
          <p:nvPr/>
        </p:nvSpPr>
        <p:spPr>
          <a:xfrm>
            <a:off x="1670298" y="3202632"/>
            <a:ext cx="8705850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balance of Accuracy and Macro F1</a:t>
            </a:r>
            <a:endParaRPr lang="en-US" sz="1500" dirty="0"/>
          </a:p>
        </p:txBody>
      </p:sp>
      <p:sp>
        <p:nvSpPr>
          <p:cNvPr id="46" name="SK-10-text-45"/>
          <p:cNvSpPr/>
          <p:nvPr/>
        </p:nvSpPr>
        <p:spPr>
          <a:xfrm>
            <a:off x="1658094" y="3627834"/>
            <a:ext cx="71818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Simple, controlled online state</a:t>
            </a:r>
            <a:endParaRPr lang="en-US" sz="1500" dirty="0"/>
          </a:p>
        </p:txBody>
      </p:sp>
      <p:sp>
        <p:nvSpPr>
          <p:cNvPr id="47" name="SK-10-text-46"/>
          <p:cNvSpPr/>
          <p:nvPr/>
        </p:nvSpPr>
        <p:spPr>
          <a:xfrm>
            <a:off x="1670298" y="4039344"/>
            <a:ext cx="60388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parameter-drift risk</a:t>
            </a:r>
            <a:endParaRPr lang="en-US" sz="1500" dirty="0"/>
          </a:p>
        </p:txBody>
      </p:sp>
      <p:sp>
        <p:nvSpPr>
          <p:cNvPr id="48" name="SK-10-text-47"/>
          <p:cNvSpPr/>
          <p:nvPr/>
        </p:nvSpPr>
        <p:spPr>
          <a:xfrm>
            <a:off x="1658094" y="4450705"/>
            <a:ext cx="72580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YOLO26n retraining required</a:t>
            </a:r>
            <a:endParaRPr lang="en-US" sz="1500" dirty="0"/>
          </a:p>
        </p:txBody>
      </p:sp>
      <p:sp>
        <p:nvSpPr>
          <p:cNvPr id="49" name="SK-10-text-48"/>
          <p:cNvSpPr/>
          <p:nvPr/>
        </p:nvSpPr>
        <p:spPr>
          <a:xfrm>
            <a:off x="1304479" y="5136505"/>
            <a:ext cx="96774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Frozen</a:t>
            </a:r>
            <a:endParaRPr lang="en-US" sz="975" dirty="0"/>
          </a:p>
        </p:txBody>
      </p:sp>
      <p:sp>
        <p:nvSpPr>
          <p:cNvPr id="50" name="SK-10-text-49"/>
          <p:cNvSpPr/>
          <p:nvPr/>
        </p:nvSpPr>
        <p:spPr>
          <a:xfrm>
            <a:off x="1316682" y="5314950"/>
            <a:ext cx="215646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features</a:t>
            </a:r>
            <a:endParaRPr lang="en-US" sz="975" dirty="0"/>
          </a:p>
        </p:txBody>
      </p:sp>
      <p:sp>
        <p:nvSpPr>
          <p:cNvPr id="51" name="SK-10-text-50"/>
          <p:cNvSpPr/>
          <p:nvPr/>
        </p:nvSpPr>
        <p:spPr>
          <a:xfrm>
            <a:off x="2901553" y="5143500"/>
            <a:ext cx="792361" cy="3359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trusted-normal</a:t>
            </a:r>
            <a:endParaRPr lang="en-US" sz="105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</a:t>
            </a:r>
            <a:endParaRPr lang="en-US" sz="1050" dirty="0"/>
          </a:p>
        </p:txBody>
      </p:sp>
      <p:sp>
        <p:nvSpPr>
          <p:cNvPr id="52" name="SK-10-text-51"/>
          <p:cNvSpPr/>
          <p:nvPr/>
        </p:nvSpPr>
        <p:spPr>
          <a:xfrm>
            <a:off x="4389090" y="5170884"/>
            <a:ext cx="853380" cy="3290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memory</a:t>
            </a:r>
            <a:endParaRPr lang="en-US" sz="105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</a:t>
            </a:r>
            <a:endParaRPr lang="en-US" sz="1050" dirty="0"/>
          </a:p>
        </p:txBody>
      </p:sp>
      <p:sp>
        <p:nvSpPr>
          <p:cNvPr id="53" name="SK-10-text-52"/>
          <p:cNvSpPr/>
          <p:nvPr/>
        </p:nvSpPr>
        <p:spPr>
          <a:xfrm>
            <a:off x="7461498" y="905173"/>
            <a:ext cx="47305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B453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limitations</a:t>
            </a:r>
            <a:endParaRPr lang="en-US" sz="1725" dirty="0"/>
          </a:p>
        </p:txBody>
      </p:sp>
      <p:sp>
        <p:nvSpPr>
          <p:cNvPr id="54" name="SK-10-text-53"/>
          <p:cNvSpPr/>
          <p:nvPr/>
        </p:nvSpPr>
        <p:spPr>
          <a:xfrm>
            <a:off x="7534573" y="1344067"/>
            <a:ext cx="465742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samples can still enter the update path</a:t>
            </a:r>
            <a:endParaRPr lang="en-US" sz="1350" dirty="0"/>
          </a:p>
        </p:txBody>
      </p:sp>
      <p:sp>
        <p:nvSpPr>
          <p:cNvPr id="55" name="SK-10-text-54"/>
          <p:cNvSpPr/>
          <p:nvPr/>
        </p:nvSpPr>
        <p:spPr>
          <a:xfrm>
            <a:off x="7534573" y="1824186"/>
            <a:ext cx="4657427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Tested on short shuffled streams only</a:t>
            </a:r>
            <a:endParaRPr lang="en-US" sz="1350" dirty="0"/>
          </a:p>
        </p:txBody>
      </p:sp>
      <p:sp>
        <p:nvSpPr>
          <p:cNvPr id="56" name="SK-10-text-55"/>
          <p:cNvSpPr/>
          <p:nvPr/>
        </p:nvSpPr>
        <p:spPr>
          <a:xfrm>
            <a:off x="7522369" y="2249388"/>
            <a:ext cx="2548086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MVTec AD image-level validation;</a:t>
            </a:r>
            <a:endParaRPr lang="en-US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live production integration</a:t>
            </a:r>
            <a:endParaRPr lang="en-US" sz="1350" dirty="0"/>
          </a:p>
        </p:txBody>
      </p:sp>
      <p:sp>
        <p:nvSpPr>
          <p:cNvPr id="57" name="SK-10-text-56"/>
          <p:cNvSpPr/>
          <p:nvPr/>
        </p:nvSpPr>
        <p:spPr>
          <a:xfrm>
            <a:off x="7424886" y="3065413"/>
            <a:ext cx="4767114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4E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future work</a:t>
            </a:r>
            <a:endParaRPr lang="en-US" sz="1725" dirty="0"/>
          </a:p>
        </p:txBody>
      </p:sp>
      <p:sp>
        <p:nvSpPr>
          <p:cNvPr id="58" name="SK-10-text-57"/>
          <p:cNvSpPr/>
          <p:nvPr/>
        </p:nvSpPr>
        <p:spPr>
          <a:xfrm>
            <a:off x="7936855" y="3579763"/>
            <a:ext cx="425514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contamination at patch level</a:t>
            </a:r>
            <a:endParaRPr lang="en-US" sz="1350" dirty="0"/>
          </a:p>
        </p:txBody>
      </p:sp>
      <p:sp>
        <p:nvSpPr>
          <p:cNvPr id="59" name="SK-10-text-58"/>
          <p:cNvSpPr/>
          <p:nvPr/>
        </p:nvSpPr>
        <p:spPr>
          <a:xfrm>
            <a:off x="7936855" y="4149030"/>
            <a:ext cx="425514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representative patches with an online coreset</a:t>
            </a:r>
            <a:endParaRPr lang="en-US" sz="1350" dirty="0"/>
          </a:p>
        </p:txBody>
      </p:sp>
      <p:sp>
        <p:nvSpPr>
          <p:cNvPr id="60" name="SK-10-text-59"/>
          <p:cNvSpPr/>
          <p:nvPr/>
        </p:nvSpPr>
        <p:spPr>
          <a:xfrm>
            <a:off x="7936855" y="4711303"/>
            <a:ext cx="425514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long-duration drift and recovery</a:t>
            </a:r>
            <a:endParaRPr lang="en-US" sz="1350" dirty="0"/>
          </a:p>
        </p:txBody>
      </p:sp>
      <p:sp>
        <p:nvSpPr>
          <p:cNvPr id="61" name="SK-10-text-60"/>
          <p:cNvSpPr/>
          <p:nvPr/>
        </p:nvSpPr>
        <p:spPr>
          <a:xfrm>
            <a:off x="7924800" y="5218807"/>
            <a:ext cx="2852886" cy="4388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human confirmation for uncertain</a:t>
            </a:r>
            <a:endParaRPr lang="en-US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updates in CiRA CORE</a:t>
            </a:r>
            <a:endParaRPr lang="en-US" sz="1350" dirty="0"/>
          </a:p>
        </p:txBody>
      </p:sp>
      <p:sp>
        <p:nvSpPr>
          <p:cNvPr id="62" name="SK-10-text-61"/>
          <p:cNvSpPr/>
          <p:nvPr/>
        </p:nvSpPr>
        <p:spPr>
          <a:xfrm>
            <a:off x="1621482" y="6185892"/>
            <a:ext cx="10570518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CTTA is the strongest deployment choice today; safer memory selection is the next critical step.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2026-08-24T14:25:56Z</dcterms:created>
  <dcterms:modified xsi:type="dcterms:W3CDTF">2026-08-24T14:25:56Z</dcterms:modified>
</cp:coreProperties>
</file>